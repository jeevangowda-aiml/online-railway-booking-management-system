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7772400" cy="1005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lide1_object 2.jpg"/>
          <p:cNvPicPr>
            <a:picLocks noChangeAspect="1"/>
          </p:cNvPicPr>
          <p:nvPr/>
        </p:nvPicPr>
        <p:blipFill>
          <a:blip r:embed="rId2"/>
          <a:stretch>
            <a:fillRect/>
          </a:stretch>
        </p:blipFill>
        <p:spPr>
          <a:xfrm>
            <a:off x="3619195" y="1499616"/>
            <a:ext cx="775411" cy="1000353"/>
          </a:xfrm>
          <a:prstGeom prst="rect">
            <a:avLst/>
          </a:prstGeom>
        </p:spPr>
      </p:pic>
      <p:sp>
        <p:nvSpPr>
          <p:cNvPr id="4" name="TextBox 3"/>
          <p:cNvSpPr txBox="1"/>
          <p:nvPr/>
        </p:nvSpPr>
        <p:spPr>
          <a:xfrm>
            <a:off x="1253642" y="538581"/>
            <a:ext cx="5490057" cy="812901"/>
          </a:xfrm>
          <a:prstGeom prst="rect">
            <a:avLst/>
          </a:prstGeom>
          <a:noFill/>
        </p:spPr>
        <p:txBody>
          <a:bodyPr wrap="square">
            <a:spAutoFit/>
          </a:bodyPr>
          <a:lstStyle/>
          <a:p>
            <a:pPr algn="ctr"/>
            <a:r>
              <a:rPr sz="1800" b="1">
                <a:solidFill>
                  <a:srgbClr val="1F477B"/>
                </a:solidFill>
                <a:latin typeface="Times New Roman"/>
              </a:rPr>
              <a:t>VISVESVARAYA TECHNOLOGICAL UNIVERSITY,</a:t>
            </a:r>
          </a:p>
          <a:p>
            <a:pPr algn="ctr">
              <a:spcBef>
                <a:spcPts val="600"/>
              </a:spcBef>
            </a:pPr>
            <a:r>
              <a:rPr sz="1800" b="1">
                <a:solidFill>
                  <a:srgbClr val="1F477B"/>
                </a:solidFill>
                <a:latin typeface="Times New Roman"/>
              </a:rPr>
              <a:t>Jnana Sangama, Belagavi - 590014</a:t>
            </a:r>
          </a:p>
        </p:txBody>
      </p:sp>
      <p:sp>
        <p:nvSpPr>
          <p:cNvPr id="5" name="TextBox 4"/>
          <p:cNvSpPr txBox="1"/>
          <p:nvPr/>
        </p:nvSpPr>
        <p:spPr>
          <a:xfrm>
            <a:off x="1467612" y="2509113"/>
            <a:ext cx="5068519" cy="1395374"/>
          </a:xfrm>
          <a:prstGeom prst="rect">
            <a:avLst/>
          </a:prstGeom>
          <a:noFill/>
        </p:spPr>
        <p:txBody>
          <a:bodyPr wrap="square">
            <a:spAutoFit/>
          </a:bodyPr>
          <a:lstStyle/>
          <a:p>
            <a:pPr algn="ctr"/>
            <a:r>
              <a:rPr sz="1200" b="1">
                <a:solidFill>
                  <a:srgbClr val="1F477B"/>
                </a:solidFill>
                <a:latin typeface="Times New Roman"/>
              </a:rPr>
              <a:t>A DBMS MINI PROJECT REPORT ON</a:t>
            </a:r>
          </a:p>
          <a:p>
            <a:pPr algn="ctr">
              <a:spcBef>
                <a:spcPts val="600"/>
              </a:spcBef>
            </a:pPr>
            <a:r>
              <a:rPr sz="1600" b="1">
                <a:solidFill>
                  <a:srgbClr val="923734"/>
                </a:solidFill>
                <a:latin typeface="Times New Roman"/>
              </a:rPr>
              <a:t>“ELITE RAIL – ONLINE RAILWAY BOOKING SYSTEM”</a:t>
            </a:r>
          </a:p>
          <a:p>
            <a:pPr algn="ctr">
              <a:spcBef>
                <a:spcPts val="800"/>
              </a:spcBef>
            </a:pPr>
            <a:r>
              <a:rPr sz="1200" b="1">
                <a:solidFill>
                  <a:srgbClr val="FF0000"/>
                </a:solidFill>
                <a:latin typeface="Times New Roman"/>
              </a:rPr>
              <a:t>IN</a:t>
            </a:r>
          </a:p>
          <a:p>
            <a:pPr algn="ctr">
              <a:spcBef>
                <a:spcPts val="400"/>
              </a:spcBef>
            </a:pPr>
            <a:r>
              <a:rPr sz="1200" b="1">
                <a:solidFill>
                  <a:srgbClr val="FF0000"/>
                </a:solidFill>
                <a:latin typeface="Times New Roman"/>
              </a:rPr>
              <a:t>COMPUTER SCIENCE &amp; ENGINEERING</a:t>
            </a:r>
          </a:p>
          <a:p>
            <a:pPr algn="ctr">
              <a:spcBef>
                <a:spcPts val="600"/>
              </a:spcBef>
            </a:pPr>
            <a:r>
              <a:rPr sz="1100" b="1">
                <a:solidFill>
                  <a:srgbClr val="1F477B"/>
                </a:solidFill>
                <a:latin typeface="Times New Roman"/>
              </a:rPr>
              <a:t>By</a:t>
            </a:r>
          </a:p>
        </p:txBody>
      </p:sp>
      <p:sp>
        <p:nvSpPr>
          <p:cNvPr id="6" name="TextBox 5"/>
          <p:cNvSpPr txBox="1"/>
          <p:nvPr/>
        </p:nvSpPr>
        <p:spPr>
          <a:xfrm>
            <a:off x="1997964" y="4112056"/>
            <a:ext cx="1371600" cy="1075334"/>
          </a:xfrm>
          <a:prstGeom prst="rect">
            <a:avLst/>
          </a:prstGeom>
          <a:noFill/>
        </p:spPr>
        <p:txBody>
          <a:bodyPr wrap="square">
            <a:spAutoFit/>
          </a:bodyPr>
          <a:lstStyle/>
          <a:p>
            <a:pPr>
              <a:spcBef>
                <a:spcPts val="100"/>
              </a:spcBef>
            </a:pPr>
            <a:r>
              <a:rPr sz="1200" b="1">
                <a:solidFill>
                  <a:srgbClr val="FF0000"/>
                </a:solidFill>
                <a:latin typeface="Times New Roman"/>
              </a:rPr>
              <a:t>[STUDENT NAME 1]</a:t>
            </a:r>
          </a:p>
          <a:p>
            <a:pPr>
              <a:spcBef>
                <a:spcPts val="600"/>
              </a:spcBef>
            </a:pPr>
            <a:r>
              <a:rPr sz="1200" b="1">
                <a:solidFill>
                  <a:srgbClr val="FF0000"/>
                </a:solidFill>
                <a:latin typeface="Times New Roman"/>
              </a:rPr>
              <a:t>[STUDENT NAME 2]</a:t>
            </a:r>
          </a:p>
          <a:p>
            <a:pPr>
              <a:spcBef>
                <a:spcPts val="600"/>
              </a:spcBef>
            </a:pPr>
            <a:r>
              <a:rPr sz="1200" b="1">
                <a:solidFill>
                  <a:srgbClr val="FF0000"/>
                </a:solidFill>
                <a:latin typeface="Times New Roman"/>
              </a:rPr>
              <a:t>[STUDENT NAME 3]</a:t>
            </a:r>
          </a:p>
          <a:p>
            <a:pPr>
              <a:spcBef>
                <a:spcPts val="600"/>
              </a:spcBef>
            </a:pPr>
            <a:r>
              <a:rPr sz="1200" b="1">
                <a:solidFill>
                  <a:srgbClr val="FF0000"/>
                </a:solidFill>
                <a:latin typeface="Times New Roman"/>
              </a:rPr>
              <a:t>[STUDENT NAME 4]</a:t>
            </a:r>
          </a:p>
        </p:txBody>
      </p:sp>
      <p:sp>
        <p:nvSpPr>
          <p:cNvPr id="7" name="TextBox 6"/>
          <p:cNvSpPr txBox="1"/>
          <p:nvPr/>
        </p:nvSpPr>
        <p:spPr>
          <a:xfrm>
            <a:off x="4512564" y="4112056"/>
            <a:ext cx="1097280" cy="1075334"/>
          </a:xfrm>
          <a:prstGeom prst="rect">
            <a:avLst/>
          </a:prstGeom>
          <a:noFill/>
        </p:spPr>
        <p:txBody>
          <a:bodyPr wrap="square">
            <a:spAutoFit/>
          </a:bodyPr>
          <a:lstStyle/>
          <a:p>
            <a:pPr>
              <a:spcBef>
                <a:spcPts val="700"/>
              </a:spcBef>
            </a:pPr>
            <a:r>
              <a:rPr sz="1200">
                <a:solidFill>
                  <a:srgbClr val="FF0000"/>
                </a:solidFill>
                <a:latin typeface="Times New Roman"/>
              </a:rPr>
              <a:t>[1DB23CS0XX]</a:t>
            </a:r>
          </a:p>
          <a:p>
            <a:pPr>
              <a:spcBef>
                <a:spcPts val="600"/>
              </a:spcBef>
            </a:pPr>
            <a:r>
              <a:rPr sz="1200">
                <a:solidFill>
                  <a:srgbClr val="FF0000"/>
                </a:solidFill>
                <a:latin typeface="Times New Roman"/>
              </a:rPr>
              <a:t>[1DB23CS0XX]</a:t>
            </a:r>
          </a:p>
          <a:p>
            <a:pPr>
              <a:spcBef>
                <a:spcPts val="600"/>
              </a:spcBef>
            </a:pPr>
            <a:r>
              <a:rPr sz="1200">
                <a:solidFill>
                  <a:srgbClr val="FF0000"/>
                </a:solidFill>
                <a:latin typeface="Times New Roman"/>
              </a:rPr>
              <a:t>[1DB23CS0XX]</a:t>
            </a:r>
          </a:p>
          <a:p>
            <a:pPr>
              <a:spcBef>
                <a:spcPts val="600"/>
              </a:spcBef>
            </a:pPr>
            <a:r>
              <a:rPr sz="1200">
                <a:solidFill>
                  <a:srgbClr val="FF0000"/>
                </a:solidFill>
                <a:latin typeface="Times New Roman"/>
              </a:rPr>
              <a:t>[1DB23CS0XX]</a:t>
            </a:r>
          </a:p>
        </p:txBody>
      </p:sp>
      <p:sp>
        <p:nvSpPr>
          <p:cNvPr id="8" name="TextBox 7"/>
          <p:cNvSpPr txBox="1"/>
          <p:nvPr/>
        </p:nvSpPr>
        <p:spPr>
          <a:xfrm>
            <a:off x="1253642" y="5182819"/>
            <a:ext cx="5490057" cy="1339596"/>
          </a:xfrm>
          <a:prstGeom prst="rect">
            <a:avLst/>
          </a:prstGeom>
          <a:noFill/>
        </p:spPr>
        <p:txBody>
          <a:bodyPr wrap="square">
            <a:spAutoFit/>
          </a:bodyPr>
          <a:lstStyle/>
          <a:p>
            <a:pPr algn="ctr">
              <a:spcBef>
                <a:spcPts val="100"/>
              </a:spcBef>
            </a:pPr>
            <a:r>
              <a:rPr sz="1200" b="1">
                <a:solidFill>
                  <a:srgbClr val="1F477B"/>
                </a:solidFill>
                <a:latin typeface="Times New Roman"/>
              </a:rPr>
              <a:t>Under the Guidance of Ms. SINCHANA K P B.E, M. TECH</a:t>
            </a:r>
          </a:p>
          <a:p>
            <a:pPr algn="ctr">
              <a:spcBef>
                <a:spcPts val="100"/>
              </a:spcBef>
            </a:pPr>
            <a:r>
              <a:rPr sz="1200" b="1">
                <a:solidFill>
                  <a:srgbClr val="1F477B"/>
                </a:solidFill>
                <a:latin typeface="Times New Roman"/>
              </a:rPr>
              <a:t>Assistant Professor</a:t>
            </a:r>
          </a:p>
          <a:p>
            <a:pPr algn="ctr">
              <a:spcBef>
                <a:spcPts val="100"/>
              </a:spcBef>
            </a:pPr>
            <a:r>
              <a:rPr sz="1200" b="1">
                <a:solidFill>
                  <a:srgbClr val="1F477B"/>
                </a:solidFill>
                <a:latin typeface="Times New Roman"/>
              </a:rPr>
              <a:t>Department of CSE, DBIT</a:t>
            </a:r>
          </a:p>
        </p:txBody>
      </p:sp>
      <p:pic>
        <p:nvPicPr>
          <p:cNvPr id="9" name="Picture 8" descr="slide1_object 9.jpg"/>
          <p:cNvPicPr>
            <a:picLocks noChangeAspect="1"/>
          </p:cNvPicPr>
          <p:nvPr/>
        </p:nvPicPr>
        <p:blipFill>
          <a:blip r:embed="rId3"/>
          <a:stretch>
            <a:fillRect/>
          </a:stretch>
        </p:blipFill>
        <p:spPr>
          <a:xfrm>
            <a:off x="3611880" y="6476695"/>
            <a:ext cx="775411" cy="786384"/>
          </a:xfrm>
          <a:prstGeom prst="rect">
            <a:avLst/>
          </a:prstGeom>
        </p:spPr>
      </p:pic>
      <p:sp>
        <p:nvSpPr>
          <p:cNvPr id="10" name="TextBox 9"/>
          <p:cNvSpPr txBox="1"/>
          <p:nvPr/>
        </p:nvSpPr>
        <p:spPr>
          <a:xfrm>
            <a:off x="1372514" y="7164324"/>
            <a:ext cx="5029200" cy="1559052"/>
          </a:xfrm>
          <a:prstGeom prst="rect">
            <a:avLst/>
          </a:prstGeom>
          <a:noFill/>
        </p:spPr>
        <p:txBody>
          <a:bodyPr wrap="square">
            <a:spAutoFit/>
          </a:bodyPr>
          <a:lstStyle/>
          <a:p>
            <a:pPr algn="ctr">
              <a:spcBef>
                <a:spcPts val="800"/>
              </a:spcBef>
            </a:pPr>
            <a:r>
              <a:rPr sz="1400" b="1">
                <a:solidFill>
                  <a:srgbClr val="1F477B"/>
                </a:solidFill>
                <a:latin typeface="Times New Roman"/>
              </a:rPr>
              <a:t>DON BOSCO INSTITUTE OF TECHNOLOGY</a:t>
            </a:r>
          </a:p>
          <a:p>
            <a:pPr algn="ctr"/>
            <a:r>
              <a:rPr sz="1400" b="1">
                <a:solidFill>
                  <a:srgbClr val="1F477B"/>
                </a:solidFill>
                <a:latin typeface="Times New Roman"/>
              </a:rPr>
              <a:t>(An Autonomous Institution, affiliated to VTU, Belagavi)</a:t>
            </a:r>
          </a:p>
          <a:p>
            <a:pPr algn="ctr">
              <a:spcBef>
                <a:spcPts val="100"/>
              </a:spcBef>
            </a:pPr>
            <a:r>
              <a:rPr sz="1400" b="1">
                <a:solidFill>
                  <a:srgbClr val="1F477B"/>
                </a:solidFill>
                <a:latin typeface="Times New Roman"/>
              </a:rPr>
              <a:t>DEPARTMENT OF COMPUTER SCIENCE &amp; ENGINEERING</a:t>
            </a:r>
          </a:p>
          <a:p>
            <a:pPr algn="ctr">
              <a:spcBef>
                <a:spcPts val="100"/>
              </a:spcBef>
            </a:pPr>
            <a:r>
              <a:rPr sz="1400" b="1">
                <a:solidFill>
                  <a:srgbClr val="1F477B"/>
                </a:solidFill>
                <a:latin typeface="Times New Roman"/>
              </a:rPr>
              <a:t>BENGALURU – 560074, KARNATAKA</a:t>
            </a:r>
          </a:p>
          <a:p>
            <a:pPr algn="ctr">
              <a:spcBef>
                <a:spcPts val="100"/>
              </a:spcBef>
            </a:pPr>
            <a:r>
              <a:rPr sz="1400" b="1">
                <a:solidFill>
                  <a:srgbClr val="1F477B"/>
                </a:solidFill>
                <a:latin typeface="Times New Roman"/>
              </a:rPr>
              <a:t>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53642" y="566928"/>
            <a:ext cx="5265115" cy="1113739"/>
          </a:xfrm>
          <a:prstGeom prst="rect">
            <a:avLst/>
          </a:prstGeom>
          <a:noFill/>
        </p:spPr>
        <p:txBody>
          <a:bodyPr wrap="square">
            <a:spAutoFit/>
          </a:bodyPr>
          <a:lstStyle/>
          <a:p>
            <a:pPr algn="ctr">
              <a:spcBef>
                <a:spcPts val="800"/>
              </a:spcBef>
            </a:pPr>
            <a:r>
              <a:rPr sz="1400" b="1">
                <a:solidFill>
                  <a:srgbClr val="1F477B"/>
                </a:solidFill>
                <a:latin typeface="Times New Roman"/>
              </a:rPr>
              <a:t>DON BOSCO INSTITUTE OF TECHNOLOGY</a:t>
            </a:r>
          </a:p>
          <a:p>
            <a:pPr algn="ctr">
              <a:spcBef>
                <a:spcPts val="700"/>
              </a:spcBef>
            </a:pPr>
            <a:r>
              <a:rPr sz="1400" b="1">
                <a:solidFill>
                  <a:srgbClr val="1F477B"/>
                </a:solidFill>
                <a:latin typeface="Times New Roman"/>
              </a:rPr>
              <a:t>(An Autonomous Institution, affiliated to VTU, Belagavi)</a:t>
            </a:r>
          </a:p>
          <a:p>
            <a:pPr algn="ctr">
              <a:spcBef>
                <a:spcPts val="100"/>
              </a:spcBef>
            </a:pPr>
            <a:r>
              <a:rPr sz="1300" b="1">
                <a:solidFill>
                  <a:srgbClr val="1F477B"/>
                </a:solidFill>
                <a:latin typeface="Times New Roman"/>
              </a:rPr>
              <a:t>BENGALURU – 560074, KARNATAKA</a:t>
            </a:r>
          </a:p>
          <a:p>
            <a:pPr algn="ctr">
              <a:spcBef>
                <a:spcPts val="100"/>
              </a:spcBef>
            </a:pPr>
            <a:r>
              <a:rPr sz="1300" b="1">
                <a:solidFill>
                  <a:srgbClr val="1F477B"/>
                </a:solidFill>
                <a:latin typeface="Times New Roman"/>
              </a:rPr>
              <a:t>DEPARTMENT OF COMPUTER SCIENCE &amp; ENGINEERING</a:t>
            </a:r>
          </a:p>
        </p:txBody>
      </p:sp>
      <p:pic>
        <p:nvPicPr>
          <p:cNvPr id="5" name="Picture 4" descr="slide1_object 9.jpg"/>
          <p:cNvPicPr>
            <a:picLocks noChangeAspect="1"/>
          </p:cNvPicPr>
          <p:nvPr/>
        </p:nvPicPr>
        <p:blipFill>
          <a:blip r:embed="rId2"/>
          <a:stretch>
            <a:fillRect/>
          </a:stretch>
        </p:blipFill>
        <p:spPr>
          <a:xfrm>
            <a:off x="3320186" y="1870862"/>
            <a:ext cx="1063447" cy="785469"/>
          </a:xfrm>
          <a:prstGeom prst="rect">
            <a:avLst/>
          </a:prstGeom>
        </p:spPr>
      </p:pic>
      <p:sp>
        <p:nvSpPr>
          <p:cNvPr id="6" name="TextBox 5"/>
          <p:cNvSpPr txBox="1"/>
          <p:nvPr/>
        </p:nvSpPr>
        <p:spPr>
          <a:xfrm>
            <a:off x="1032357" y="2670962"/>
            <a:ext cx="5239512" cy="824788"/>
          </a:xfrm>
          <a:prstGeom prst="rect">
            <a:avLst/>
          </a:prstGeom>
          <a:noFill/>
        </p:spPr>
        <p:txBody>
          <a:bodyPr wrap="square">
            <a:spAutoFit/>
          </a:bodyPr>
          <a:lstStyle/>
          <a:p>
            <a:pPr algn="ctr">
              <a:spcBef>
                <a:spcPts val="100"/>
              </a:spcBef>
            </a:pPr>
            <a:r>
              <a:rPr sz="1600" b="1">
                <a:latin typeface="Times New Roman"/>
              </a:rPr>
              <a:t>CERTIFICATE</a:t>
            </a:r>
          </a:p>
        </p:txBody>
      </p:sp>
      <p:sp>
        <p:nvSpPr>
          <p:cNvPr id="7" name="TextBox 6"/>
          <p:cNvSpPr txBox="1"/>
          <p:nvPr/>
        </p:nvSpPr>
        <p:spPr>
          <a:xfrm>
            <a:off x="1032357" y="3063240"/>
            <a:ext cx="5253228" cy="1188720"/>
          </a:xfrm>
          <a:prstGeom prst="rect">
            <a:avLst/>
          </a:prstGeom>
          <a:noFill/>
        </p:spPr>
        <p:txBody>
          <a:bodyPr wrap="square">
            <a:spAutoFit/>
          </a:bodyPr>
          <a:lstStyle/>
          <a:p>
            <a:pPr algn="just"/>
            <a:r>
              <a:rPr sz="1200">
                <a:latin typeface="Times New Roman"/>
              </a:rPr>
              <a:t>This is to certify that the Mini Project entitled “ELITE RAIL – ONLINE RAILWAY BOOKING SYSTEM” is a bonafide work carried out by the following students of Department of Computer Science &amp; Engineering, Don Bosco Institute of Technology, in partial fulfillment of the requirements for the award of Bachelor of Engineering degree of Visvesvaraya Technological University, Belagavi, during the academic year 2025–2026.</a:t>
            </a:r>
          </a:p>
        </p:txBody>
      </p:sp>
      <p:sp>
        <p:nvSpPr>
          <p:cNvPr id="8" name="TextBox 7"/>
          <p:cNvSpPr txBox="1"/>
          <p:nvPr/>
        </p:nvSpPr>
        <p:spPr>
          <a:xfrm>
            <a:off x="1997964" y="4297680"/>
            <a:ext cx="1371600" cy="986637"/>
          </a:xfrm>
          <a:prstGeom prst="rect">
            <a:avLst/>
          </a:prstGeom>
          <a:noFill/>
        </p:spPr>
        <p:txBody>
          <a:bodyPr wrap="square">
            <a:spAutoFit/>
          </a:bodyPr>
          <a:lstStyle/>
          <a:p>
            <a:pPr>
              <a:spcBef>
                <a:spcPts val="100"/>
              </a:spcBef>
            </a:pPr>
            <a:r>
              <a:rPr sz="1200" b="1">
                <a:latin typeface="Times New Roman"/>
              </a:rPr>
              <a:t>[STUDENT NAME 1]</a:t>
            </a:r>
          </a:p>
          <a:p>
            <a:pPr>
              <a:spcBef>
                <a:spcPts val="600"/>
              </a:spcBef>
            </a:pPr>
            <a:r>
              <a:rPr sz="1200" b="1">
                <a:latin typeface="Times New Roman"/>
              </a:rPr>
              <a:t>[STUDENT NAME 2]</a:t>
            </a:r>
          </a:p>
          <a:p>
            <a:pPr>
              <a:spcBef>
                <a:spcPts val="600"/>
              </a:spcBef>
            </a:pPr>
            <a:r>
              <a:rPr sz="1200" b="1">
                <a:latin typeface="Times New Roman"/>
              </a:rPr>
              <a:t>[STUDENT NAME 3]</a:t>
            </a:r>
          </a:p>
          <a:p>
            <a:pPr>
              <a:spcBef>
                <a:spcPts val="600"/>
              </a:spcBef>
            </a:pPr>
            <a:r>
              <a:rPr sz="1200" b="1">
                <a:latin typeface="Times New Roman"/>
              </a:rPr>
              <a:t>[STUDENT NAME 4]</a:t>
            </a:r>
          </a:p>
        </p:txBody>
      </p:sp>
      <p:sp>
        <p:nvSpPr>
          <p:cNvPr id="9" name="TextBox 8"/>
          <p:cNvSpPr txBox="1"/>
          <p:nvPr/>
        </p:nvSpPr>
        <p:spPr>
          <a:xfrm>
            <a:off x="4512564" y="4297680"/>
            <a:ext cx="1097280" cy="986637"/>
          </a:xfrm>
          <a:prstGeom prst="rect">
            <a:avLst/>
          </a:prstGeom>
          <a:noFill/>
        </p:spPr>
        <p:txBody>
          <a:bodyPr wrap="square">
            <a:spAutoFit/>
          </a:bodyPr>
          <a:lstStyle/>
          <a:p>
            <a:pPr>
              <a:spcBef>
                <a:spcPts val="700"/>
              </a:spcBef>
            </a:pPr>
            <a:r>
              <a:rPr sz="1200">
                <a:latin typeface="Times New Roman"/>
              </a:rPr>
              <a:t>[USN 1]</a:t>
            </a:r>
          </a:p>
          <a:p>
            <a:pPr>
              <a:spcBef>
                <a:spcPts val="600"/>
              </a:spcBef>
            </a:pPr>
            <a:r>
              <a:rPr sz="1200">
                <a:latin typeface="Times New Roman"/>
              </a:rPr>
              <a:t>[USN 2]</a:t>
            </a:r>
          </a:p>
          <a:p>
            <a:pPr>
              <a:spcBef>
                <a:spcPts val="600"/>
              </a:spcBef>
            </a:pPr>
            <a:r>
              <a:rPr sz="1200">
                <a:latin typeface="Times New Roman"/>
              </a:rPr>
              <a:t>[USN 3]</a:t>
            </a:r>
          </a:p>
          <a:p>
            <a:pPr>
              <a:spcBef>
                <a:spcPts val="600"/>
              </a:spcBef>
            </a:pPr>
            <a:r>
              <a:rPr sz="1200">
                <a:latin typeface="Times New Roman"/>
              </a:rPr>
              <a:t>[USN 4]</a:t>
            </a:r>
          </a:p>
        </p:txBody>
      </p:sp>
      <p:sp>
        <p:nvSpPr>
          <p:cNvPr id="10" name="TextBox 9"/>
          <p:cNvSpPr txBox="1"/>
          <p:nvPr/>
        </p:nvSpPr>
        <p:spPr>
          <a:xfrm>
            <a:off x="1032357" y="5394960"/>
            <a:ext cx="5253228" cy="548640"/>
          </a:xfrm>
          <a:prstGeom prst="rect">
            <a:avLst/>
          </a:prstGeom>
          <a:noFill/>
        </p:spPr>
        <p:txBody>
          <a:bodyPr wrap="square">
            <a:spAutoFit/>
          </a:bodyPr>
          <a:lstStyle/>
          <a:p>
            <a:pPr algn="just"/>
            <a:r>
              <a:rPr sz="1200">
                <a:latin typeface="Times New Roman"/>
              </a:rPr>
              <a:t>It is certified that all corrections/suggestions indicated for Internal Assessment have been incorporated in the report deposited in the departmental library. The Mini project report has been approved as it satisfies the academic requirements in respect of Mini Project work prescribed for the Bachelor of Engineering Degree.</a:t>
            </a:r>
          </a:p>
        </p:txBody>
      </p:sp>
      <p:sp>
        <p:nvSpPr>
          <p:cNvPr id="11" name="TextBox 10"/>
          <p:cNvSpPr txBox="1"/>
          <p:nvPr/>
        </p:nvSpPr>
        <p:spPr>
          <a:xfrm>
            <a:off x="1097280" y="6262725"/>
            <a:ext cx="2011680" cy="734263"/>
          </a:xfrm>
          <a:prstGeom prst="rect">
            <a:avLst/>
          </a:prstGeom>
          <a:noFill/>
        </p:spPr>
        <p:txBody>
          <a:bodyPr wrap="square">
            <a:spAutoFit/>
          </a:bodyPr>
          <a:lstStyle/>
          <a:p>
            <a:pPr>
              <a:spcBef>
                <a:spcPts val="100"/>
              </a:spcBef>
            </a:pPr>
            <a:r>
              <a:rPr sz="1200" b="1">
                <a:solidFill>
                  <a:srgbClr val="923734"/>
                </a:solidFill>
                <a:latin typeface="Times New Roman"/>
              </a:rPr>
              <a:t>Ms. SINCHANA K P</a:t>
            </a:r>
          </a:p>
          <a:p>
            <a:pPr>
              <a:spcBef>
                <a:spcPts val="800"/>
              </a:spcBef>
            </a:pPr>
            <a:r>
              <a:rPr sz="1000" b="1">
                <a:solidFill>
                  <a:srgbClr val="923734"/>
                </a:solidFill>
                <a:latin typeface="Times New Roman"/>
              </a:rPr>
              <a:t>B.E, M. TECH</a:t>
            </a:r>
          </a:p>
          <a:p>
            <a:pPr>
              <a:spcBef>
                <a:spcPts val="700"/>
              </a:spcBef>
            </a:pPr>
            <a:r>
              <a:rPr sz="1200" b="1">
                <a:solidFill>
                  <a:srgbClr val="22405F"/>
                </a:solidFill>
                <a:latin typeface="Times New Roman"/>
              </a:rPr>
              <a:t>Mini Project Guide</a:t>
            </a:r>
          </a:p>
        </p:txBody>
      </p:sp>
      <p:sp>
        <p:nvSpPr>
          <p:cNvPr id="12" name="TextBox 11"/>
          <p:cNvSpPr txBox="1"/>
          <p:nvPr/>
        </p:nvSpPr>
        <p:spPr>
          <a:xfrm>
            <a:off x="4480560" y="6254496"/>
            <a:ext cx="2011680" cy="813816"/>
          </a:xfrm>
          <a:prstGeom prst="rect">
            <a:avLst/>
          </a:prstGeom>
          <a:noFill/>
        </p:spPr>
        <p:txBody>
          <a:bodyPr wrap="square">
            <a:spAutoFit/>
          </a:bodyPr>
          <a:lstStyle/>
          <a:p>
            <a:pPr algn="ctr">
              <a:spcBef>
                <a:spcPts val="700"/>
              </a:spcBef>
            </a:pPr>
            <a:r>
              <a:rPr sz="1200" b="1">
                <a:solidFill>
                  <a:srgbClr val="923734"/>
                </a:solidFill>
                <a:latin typeface="Times New Roman"/>
              </a:rPr>
              <a:t>Dr. K B SHIVAKUMAR</a:t>
            </a:r>
          </a:p>
          <a:p>
            <a:pPr algn="ctr">
              <a:spcBef>
                <a:spcPts val="600"/>
              </a:spcBef>
            </a:pPr>
            <a:r>
              <a:rPr sz="1000" b="1">
                <a:solidFill>
                  <a:srgbClr val="923734"/>
                </a:solidFill>
                <a:latin typeface="Times New Roman"/>
              </a:rPr>
              <a:t>B.E, M.E, M.B.A, M.Phil., Ph.D.</a:t>
            </a:r>
          </a:p>
          <a:p>
            <a:pPr algn="ctr">
              <a:spcBef>
                <a:spcPts val="600"/>
              </a:spcBef>
            </a:pPr>
            <a:r>
              <a:rPr sz="1200" b="1">
                <a:solidFill>
                  <a:srgbClr val="1F477B"/>
                </a:solidFill>
                <a:latin typeface="Times New Roman"/>
              </a:rPr>
              <a:t>HOD</a:t>
            </a:r>
          </a:p>
        </p:txBody>
      </p:sp>
      <p:sp>
        <p:nvSpPr>
          <p:cNvPr id="13" name="Rectangle 12"/>
          <p:cNvSpPr/>
          <p:nvPr/>
        </p:nvSpPr>
        <p:spPr>
          <a:xfrm>
            <a:off x="1188720" y="7086600"/>
            <a:ext cx="1371600" cy="45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46320" y="7086600"/>
            <a:ext cx="1371600" cy="45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6929" y="7268565"/>
            <a:ext cx="1371600" cy="193852"/>
          </a:xfrm>
          <a:prstGeom prst="rect">
            <a:avLst/>
          </a:prstGeom>
          <a:noFill/>
        </p:spPr>
        <p:txBody>
          <a:bodyPr wrap="square">
            <a:spAutoFit/>
          </a:bodyPr>
          <a:lstStyle/>
          <a:p>
            <a:pPr>
              <a:spcBef>
                <a:spcPts val="100"/>
              </a:spcBef>
            </a:pPr>
            <a:r>
              <a:rPr sz="1100" b="1">
                <a:solidFill>
                  <a:srgbClr val="528DD2"/>
                </a:solidFill>
                <a:latin typeface="Times New Roman"/>
              </a:rPr>
              <a:t>Name of the Examiners</a:t>
            </a:r>
          </a:p>
        </p:txBody>
      </p:sp>
      <p:sp>
        <p:nvSpPr>
          <p:cNvPr id="16" name="TextBox 15"/>
          <p:cNvSpPr txBox="1"/>
          <p:nvPr/>
        </p:nvSpPr>
        <p:spPr>
          <a:xfrm>
            <a:off x="3268980" y="7268565"/>
            <a:ext cx="914400" cy="193852"/>
          </a:xfrm>
          <a:prstGeom prst="rect">
            <a:avLst/>
          </a:prstGeom>
          <a:noFill/>
        </p:spPr>
        <p:txBody>
          <a:bodyPr wrap="square">
            <a:spAutoFit/>
          </a:bodyPr>
          <a:lstStyle/>
          <a:p>
            <a:pPr>
              <a:spcBef>
                <a:spcPts val="100"/>
              </a:spcBef>
            </a:pPr>
            <a:r>
              <a:rPr sz="1100" b="1">
                <a:solidFill>
                  <a:srgbClr val="C0504D"/>
                </a:solidFill>
                <a:latin typeface="Times New Roman"/>
              </a:rPr>
              <a:t>External Viva</a:t>
            </a:r>
          </a:p>
        </p:txBody>
      </p:sp>
      <p:sp>
        <p:nvSpPr>
          <p:cNvPr id="17" name="TextBox 16"/>
          <p:cNvSpPr txBox="1"/>
          <p:nvPr/>
        </p:nvSpPr>
        <p:spPr>
          <a:xfrm>
            <a:off x="4799685" y="7268565"/>
            <a:ext cx="1188720" cy="193852"/>
          </a:xfrm>
          <a:prstGeom prst="rect">
            <a:avLst/>
          </a:prstGeom>
          <a:noFill/>
        </p:spPr>
        <p:txBody>
          <a:bodyPr wrap="square">
            <a:spAutoFit/>
          </a:bodyPr>
          <a:lstStyle/>
          <a:p>
            <a:pPr>
              <a:spcBef>
                <a:spcPts val="100"/>
              </a:spcBef>
            </a:pPr>
            <a:r>
              <a:rPr sz="1100" b="1">
                <a:solidFill>
                  <a:srgbClr val="528DD2"/>
                </a:solidFill>
                <a:latin typeface="Times New Roman"/>
              </a:rPr>
              <a:t>Signature with Date</a:t>
            </a:r>
          </a:p>
        </p:txBody>
      </p:sp>
      <p:sp>
        <p:nvSpPr>
          <p:cNvPr id="18" name="TextBox 17"/>
          <p:cNvSpPr txBox="1"/>
          <p:nvPr/>
        </p:nvSpPr>
        <p:spPr>
          <a:xfrm>
            <a:off x="1036929" y="7589520"/>
            <a:ext cx="2011680" cy="599846"/>
          </a:xfrm>
          <a:prstGeom prst="rect">
            <a:avLst/>
          </a:prstGeom>
          <a:noFill/>
        </p:spPr>
        <p:txBody>
          <a:bodyPr wrap="square">
            <a:spAutoFit/>
          </a:bodyPr>
          <a:lstStyle/>
          <a:p>
            <a:pPr>
              <a:spcBef>
                <a:spcPts val="100"/>
              </a:spcBef>
            </a:pPr>
            <a:r>
              <a:rPr sz="1100" b="1">
                <a:latin typeface="Times New Roman"/>
              </a:rPr>
              <a:t>1. ______________________</a:t>
            </a:r>
          </a:p>
          <a:p>
            <a:pPr>
              <a:spcBef>
                <a:spcPts val="800"/>
              </a:spcBef>
            </a:pPr>
            <a:r>
              <a:rPr sz="1100" b="1">
                <a:latin typeface="Times New Roman"/>
              </a:rPr>
              <a:t>2. ______________________</a:t>
            </a:r>
          </a:p>
        </p:txBody>
      </p:sp>
      <p:sp>
        <p:nvSpPr>
          <p:cNvPr id="19" name="Rectangle 18"/>
          <p:cNvSpPr/>
          <p:nvPr/>
        </p:nvSpPr>
        <p:spPr>
          <a:xfrm>
            <a:off x="4824374" y="7863840"/>
            <a:ext cx="1188720" cy="45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24374" y="8229600"/>
            <a:ext cx="1188720" cy="45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53642" y="808329"/>
            <a:ext cx="5265115" cy="1113739"/>
          </a:xfrm>
          <a:prstGeom prst="rect">
            <a:avLst/>
          </a:prstGeom>
          <a:noFill/>
        </p:spPr>
        <p:txBody>
          <a:bodyPr wrap="square">
            <a:spAutoFit/>
          </a:bodyPr>
          <a:lstStyle/>
          <a:p>
            <a:pPr algn="ctr">
              <a:spcBef>
                <a:spcPts val="800"/>
              </a:spcBef>
            </a:pPr>
            <a:r>
              <a:rPr sz="1400" b="1">
                <a:solidFill>
                  <a:srgbClr val="1F477B"/>
                </a:solidFill>
                <a:latin typeface="Times New Roman"/>
              </a:rPr>
              <a:t>DON BOSCO INSTITUTE OF TECHNOLOGY</a:t>
            </a:r>
          </a:p>
          <a:p>
            <a:pPr algn="ctr">
              <a:spcBef>
                <a:spcPts val="700"/>
              </a:spcBef>
            </a:pPr>
            <a:r>
              <a:rPr sz="1400" b="1">
                <a:solidFill>
                  <a:srgbClr val="1F477B"/>
                </a:solidFill>
                <a:latin typeface="Times New Roman"/>
              </a:rPr>
              <a:t>(An Autonomous Institution, affiliated to VTU, Belagavi)</a:t>
            </a:r>
          </a:p>
          <a:p>
            <a:pPr algn="ctr">
              <a:spcBef>
                <a:spcPts val="100"/>
              </a:spcBef>
            </a:pPr>
            <a:r>
              <a:rPr sz="1300" b="1">
                <a:solidFill>
                  <a:srgbClr val="1F477B"/>
                </a:solidFill>
                <a:latin typeface="Times New Roman"/>
              </a:rPr>
              <a:t>BENGALURU – 560074, KARNATAKA</a:t>
            </a:r>
          </a:p>
          <a:p>
            <a:pPr algn="ctr">
              <a:spcBef>
                <a:spcPts val="100"/>
              </a:spcBef>
            </a:pPr>
            <a:r>
              <a:rPr sz="1300" b="1">
                <a:solidFill>
                  <a:srgbClr val="1F477B"/>
                </a:solidFill>
                <a:latin typeface="Times New Roman"/>
              </a:rPr>
              <a:t>DEPARTMENT OF COMPUTER SCIENCE &amp; ENGINEERING</a:t>
            </a:r>
          </a:p>
        </p:txBody>
      </p:sp>
      <p:pic>
        <p:nvPicPr>
          <p:cNvPr id="5" name="Picture 4" descr="slide1_object 9.jpg"/>
          <p:cNvPicPr>
            <a:picLocks noChangeAspect="1"/>
          </p:cNvPicPr>
          <p:nvPr/>
        </p:nvPicPr>
        <p:blipFill>
          <a:blip r:embed="rId2"/>
          <a:stretch>
            <a:fillRect/>
          </a:stretch>
        </p:blipFill>
        <p:spPr>
          <a:xfrm>
            <a:off x="3047695" y="2177186"/>
            <a:ext cx="1079906" cy="853135"/>
          </a:xfrm>
          <a:prstGeom prst="rect">
            <a:avLst/>
          </a:prstGeom>
        </p:spPr>
      </p:pic>
      <p:sp>
        <p:nvSpPr>
          <p:cNvPr id="6" name="TextBox 5"/>
          <p:cNvSpPr txBox="1"/>
          <p:nvPr/>
        </p:nvSpPr>
        <p:spPr>
          <a:xfrm>
            <a:off x="1032357" y="3504895"/>
            <a:ext cx="5253228" cy="3200400"/>
          </a:xfrm>
          <a:prstGeom prst="rect">
            <a:avLst/>
          </a:prstGeom>
          <a:noFill/>
        </p:spPr>
        <p:txBody>
          <a:bodyPr wrap="square">
            <a:spAutoFit/>
          </a:bodyPr>
          <a:lstStyle/>
          <a:p>
            <a:pPr algn="ctr">
              <a:spcBef>
                <a:spcPts val="100"/>
              </a:spcBef>
            </a:pPr>
            <a:r>
              <a:rPr sz="1600" b="1">
                <a:latin typeface="Times New Roman"/>
              </a:rPr>
              <a:t>Declaration</a:t>
            </a:r>
          </a:p>
          <a:p>
            <a:pPr algn="just">
              <a:spcBef>
                <a:spcPts val="1000"/>
              </a:spcBef>
            </a:pPr>
            <a:r>
              <a:rPr sz="1200">
                <a:latin typeface="Times New Roman"/>
              </a:rPr>
              <a:t>We, the undersigned students of the Department of Computer Science &amp; Engineering, Don Bosco Institute of Technology, hereby declare that the dissertation titled “ELITE RAIL – ONLINE RAILWAY BOOKING SYSTEM” is a record of original work done by us under the guidance of Ms. SINCHANA K P, Assistant Professor, Dept. of CSE, DBIT.</a:t>
            </a:r>
          </a:p>
          <a:p>
            <a:pPr algn="just">
              <a:spcBef>
                <a:spcPts val="600"/>
              </a:spcBef>
            </a:pPr>
            <a:r>
              <a:rPr sz="1200">
                <a:latin typeface="Times New Roman"/>
              </a:rPr>
              <a:t>The information and data given in the report are authentic to the best of our knowledge. This project report is submitted in partial fulfillment of the requirements for the award of Bachelor of Engineering Degree in Computer Science &amp; Engineering at Visvesvaraya Technological University, Belagavi, during the academic year 2025–2026.</a:t>
            </a:r>
          </a:p>
          <a:p>
            <a:pPr algn="just">
              <a:spcBef>
                <a:spcPts val="600"/>
              </a:spcBef>
            </a:pPr>
            <a:r>
              <a:rPr sz="1200">
                <a:latin typeface="Times New Roman"/>
              </a:rPr>
              <a:t>This dissertation has not been submitted for any other degree or professional qualification.</a:t>
            </a:r>
          </a:p>
        </p:txBody>
      </p:sp>
      <p:sp>
        <p:nvSpPr>
          <p:cNvPr id="7" name="TextBox 6"/>
          <p:cNvSpPr txBox="1"/>
          <p:nvPr/>
        </p:nvSpPr>
        <p:spPr>
          <a:xfrm>
            <a:off x="1997964" y="6916521"/>
            <a:ext cx="1371600" cy="986637"/>
          </a:xfrm>
          <a:prstGeom prst="rect">
            <a:avLst/>
          </a:prstGeom>
          <a:noFill/>
        </p:spPr>
        <p:txBody>
          <a:bodyPr wrap="square">
            <a:spAutoFit/>
          </a:bodyPr>
          <a:lstStyle/>
          <a:p>
            <a:pPr>
              <a:spcBef>
                <a:spcPts val="100"/>
              </a:spcBef>
            </a:pPr>
            <a:r>
              <a:rPr sz="1200" b="1">
                <a:solidFill>
                  <a:srgbClr val="923734"/>
                </a:solidFill>
                <a:latin typeface="Times New Roman"/>
              </a:rPr>
              <a:t>[STUDENT NAME 1]</a:t>
            </a:r>
          </a:p>
          <a:p>
            <a:pPr>
              <a:spcBef>
                <a:spcPts val="600"/>
              </a:spcBef>
            </a:pPr>
            <a:r>
              <a:rPr sz="1200" b="1">
                <a:solidFill>
                  <a:srgbClr val="923734"/>
                </a:solidFill>
                <a:latin typeface="Times New Roman"/>
              </a:rPr>
              <a:t>[STUDENT NAME 2]</a:t>
            </a:r>
          </a:p>
          <a:p>
            <a:pPr>
              <a:spcBef>
                <a:spcPts val="600"/>
              </a:spcBef>
            </a:pPr>
            <a:r>
              <a:rPr sz="1200" b="1">
                <a:solidFill>
                  <a:srgbClr val="923734"/>
                </a:solidFill>
                <a:latin typeface="Times New Roman"/>
              </a:rPr>
              <a:t>[STUDENT NAME 3]</a:t>
            </a:r>
          </a:p>
          <a:p>
            <a:pPr>
              <a:spcBef>
                <a:spcPts val="600"/>
              </a:spcBef>
            </a:pPr>
            <a:r>
              <a:rPr sz="1200" b="1">
                <a:solidFill>
                  <a:srgbClr val="923734"/>
                </a:solidFill>
                <a:latin typeface="Times New Roman"/>
              </a:rPr>
              <a:t>[STUDENT NAME 4]</a:t>
            </a:r>
          </a:p>
        </p:txBody>
      </p:sp>
      <p:sp>
        <p:nvSpPr>
          <p:cNvPr id="8" name="TextBox 7"/>
          <p:cNvSpPr txBox="1"/>
          <p:nvPr/>
        </p:nvSpPr>
        <p:spPr>
          <a:xfrm>
            <a:off x="4512564" y="6916521"/>
            <a:ext cx="1097280" cy="986637"/>
          </a:xfrm>
          <a:prstGeom prst="rect">
            <a:avLst/>
          </a:prstGeom>
          <a:noFill/>
        </p:spPr>
        <p:txBody>
          <a:bodyPr wrap="square">
            <a:spAutoFit/>
          </a:bodyPr>
          <a:lstStyle/>
          <a:p>
            <a:pPr>
              <a:spcBef>
                <a:spcPts val="700"/>
              </a:spcBef>
            </a:pPr>
            <a:r>
              <a:rPr sz="1200">
                <a:solidFill>
                  <a:srgbClr val="923734"/>
                </a:solidFill>
                <a:latin typeface="Times New Roman"/>
              </a:rPr>
              <a:t>[USN 1]</a:t>
            </a:r>
          </a:p>
          <a:p>
            <a:pPr>
              <a:spcBef>
                <a:spcPts val="600"/>
              </a:spcBef>
            </a:pPr>
            <a:r>
              <a:rPr sz="1200">
                <a:solidFill>
                  <a:srgbClr val="923734"/>
                </a:solidFill>
                <a:latin typeface="Times New Roman"/>
              </a:rPr>
              <a:t>[USN 2]</a:t>
            </a:r>
          </a:p>
          <a:p>
            <a:pPr>
              <a:spcBef>
                <a:spcPts val="600"/>
              </a:spcBef>
            </a:pPr>
            <a:r>
              <a:rPr sz="1200">
                <a:solidFill>
                  <a:srgbClr val="923734"/>
                </a:solidFill>
                <a:latin typeface="Times New Roman"/>
              </a:rPr>
              <a:t>[USN 3]</a:t>
            </a:r>
          </a:p>
          <a:p>
            <a:pPr>
              <a:spcBef>
                <a:spcPts val="600"/>
              </a:spcBef>
            </a:pPr>
            <a:r>
              <a:rPr sz="1200">
                <a:solidFill>
                  <a:srgbClr val="923734"/>
                </a:solidFill>
                <a:latin typeface="Times New Roman"/>
              </a:rPr>
              <a:t>[USN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2357" y="883310"/>
            <a:ext cx="5255056" cy="6858000"/>
          </a:xfrm>
          <a:prstGeom prst="rect">
            <a:avLst/>
          </a:prstGeom>
          <a:noFill/>
        </p:spPr>
        <p:txBody>
          <a:bodyPr wrap="square">
            <a:spAutoFit/>
          </a:bodyPr>
          <a:lstStyle/>
          <a:p>
            <a:pPr algn="ctr">
              <a:spcBef>
                <a:spcPts val="100"/>
              </a:spcBef>
            </a:pPr>
            <a:r>
              <a:rPr sz="1400" b="1">
                <a:latin typeface="Times New Roman"/>
              </a:rPr>
              <a:t>ACKNOWLEDGEMENT</a:t>
            </a:r>
          </a:p>
          <a:p>
            <a:pPr algn="just">
              <a:spcBef>
                <a:spcPts val="800"/>
              </a:spcBef>
            </a:pPr>
            <a:r>
              <a:rPr sz="1200">
                <a:latin typeface="Times New Roman"/>
              </a:rPr>
              <a:t>The satisfaction and euphoria that accompany the successful completion of any task would be incomplete without the mention of the people who made it possible and whose constant guidance and encouragement made our efforts a success.</a:t>
            </a:r>
          </a:p>
          <a:p>
            <a:pPr algn="just">
              <a:spcBef>
                <a:spcPts val="800"/>
              </a:spcBef>
            </a:pPr>
            <a:r>
              <a:rPr sz="1200">
                <a:latin typeface="Times New Roman"/>
              </a:rPr>
              <a:t>So, with gratitude we acknowledge all those whose guidance and encouragement served as a beacon of light and crowned our efforts with success.</a:t>
            </a:r>
          </a:p>
          <a:p>
            <a:pPr algn="just">
              <a:spcBef>
                <a:spcPts val="800"/>
              </a:spcBef>
            </a:pPr>
            <a:r>
              <a:rPr sz="1200">
                <a:latin typeface="Times New Roman"/>
              </a:rPr>
              <a:t>We would like to express our sincere gratitude to our project guide Ms. SINCHANA K P, Assistant Professor, Department of CSE, for providing valuable guidance, continuous support, and constant encouragement throughout the development of this project.</a:t>
            </a:r>
          </a:p>
          <a:p>
            <a:pPr algn="just">
              <a:spcBef>
                <a:spcPts val="800"/>
              </a:spcBef>
            </a:pPr>
            <a:r>
              <a:rPr sz="1200">
                <a:latin typeface="Times New Roman"/>
              </a:rPr>
              <a:t>We sincerely thank Dr. K B SHIVAKUMAR, Professor and Head, Department of Computer Science &amp; Engineering, for the constant help and support throughout this project work.</a:t>
            </a:r>
          </a:p>
          <a:p>
            <a:pPr algn="just">
              <a:spcBef>
                <a:spcPts val="800"/>
              </a:spcBef>
            </a:pPr>
            <a:r>
              <a:rPr sz="1200">
                <a:latin typeface="Times New Roman"/>
              </a:rPr>
              <a:t>We thank our beloved Principal Dr. B S Nagabhushana for his constant help and support provided to us during our course of study.</a:t>
            </a:r>
          </a:p>
          <a:p>
            <a:pPr algn="just">
              <a:spcBef>
                <a:spcPts val="800"/>
              </a:spcBef>
            </a:pPr>
            <a:r>
              <a:rPr sz="1200">
                <a:latin typeface="Times New Roman"/>
              </a:rPr>
              <a:t>We are indebted to the Management of Don Bosco Institute of Technology for providing an environment that helped us in completing our mini project.</a:t>
            </a:r>
          </a:p>
          <a:p>
            <a:pPr algn="just">
              <a:spcBef>
                <a:spcPts val="800"/>
              </a:spcBef>
            </a:pPr>
            <a:r>
              <a:rPr sz="1200">
                <a:latin typeface="Times New Roman"/>
              </a:rPr>
              <a:t>Also, we thank all the teaching and non-teaching staff of the Department of Computer Science &amp; Engineering for their valuable cooperation in this project.</a:t>
            </a:r>
          </a:p>
        </p:txBody>
      </p:sp>
      <p:sp>
        <p:nvSpPr>
          <p:cNvPr id="5" name="TextBox 4"/>
          <p:cNvSpPr txBox="1"/>
          <p:nvPr/>
        </p:nvSpPr>
        <p:spPr>
          <a:xfrm>
            <a:off x="1997964" y="7315200"/>
            <a:ext cx="1371600" cy="984808"/>
          </a:xfrm>
          <a:prstGeom prst="rect">
            <a:avLst/>
          </a:prstGeom>
          <a:noFill/>
        </p:spPr>
        <p:txBody>
          <a:bodyPr wrap="square">
            <a:spAutoFit/>
          </a:bodyPr>
          <a:lstStyle/>
          <a:p>
            <a:pPr>
              <a:spcBef>
                <a:spcPts val="100"/>
              </a:spcBef>
            </a:pPr>
            <a:r>
              <a:rPr sz="1200" b="1">
                <a:latin typeface="Times New Roman"/>
              </a:rPr>
              <a:t>[STUDENT NAME 1]</a:t>
            </a:r>
          </a:p>
          <a:p>
            <a:pPr>
              <a:spcBef>
                <a:spcPts val="600"/>
              </a:spcBef>
            </a:pPr>
            <a:r>
              <a:rPr sz="1200" b="1">
                <a:latin typeface="Times New Roman"/>
              </a:rPr>
              <a:t>[STUDENT NAME 2]</a:t>
            </a:r>
          </a:p>
          <a:p>
            <a:pPr>
              <a:spcBef>
                <a:spcPts val="600"/>
              </a:spcBef>
            </a:pPr>
            <a:r>
              <a:rPr sz="1200" b="1">
                <a:latin typeface="Times New Roman"/>
              </a:rPr>
              <a:t>[STUDENT NAME 3]</a:t>
            </a:r>
          </a:p>
          <a:p>
            <a:pPr>
              <a:spcBef>
                <a:spcPts val="600"/>
              </a:spcBef>
            </a:pPr>
            <a:r>
              <a:rPr sz="1200" b="1">
                <a:latin typeface="Times New Roman"/>
              </a:rPr>
              <a:t>[STUDENT NAME 4]</a:t>
            </a:r>
          </a:p>
        </p:txBody>
      </p:sp>
      <p:sp>
        <p:nvSpPr>
          <p:cNvPr id="6" name="TextBox 5"/>
          <p:cNvSpPr txBox="1"/>
          <p:nvPr/>
        </p:nvSpPr>
        <p:spPr>
          <a:xfrm>
            <a:off x="4512564" y="7315200"/>
            <a:ext cx="1097280" cy="984808"/>
          </a:xfrm>
          <a:prstGeom prst="rect">
            <a:avLst/>
          </a:prstGeom>
          <a:noFill/>
        </p:spPr>
        <p:txBody>
          <a:bodyPr wrap="square">
            <a:spAutoFit/>
          </a:bodyPr>
          <a:lstStyle/>
          <a:p>
            <a:pPr>
              <a:spcBef>
                <a:spcPts val="700"/>
              </a:spcBef>
            </a:pPr>
            <a:r>
              <a:rPr sz="1200">
                <a:latin typeface="Times New Roman"/>
              </a:rPr>
              <a:t>[USN 1]</a:t>
            </a:r>
          </a:p>
          <a:p>
            <a:pPr>
              <a:spcBef>
                <a:spcPts val="600"/>
              </a:spcBef>
            </a:pPr>
            <a:r>
              <a:rPr sz="1200">
                <a:latin typeface="Times New Roman"/>
              </a:rPr>
              <a:t>[USN 2]</a:t>
            </a:r>
          </a:p>
          <a:p>
            <a:pPr>
              <a:spcBef>
                <a:spcPts val="600"/>
              </a:spcBef>
            </a:pPr>
            <a:r>
              <a:rPr sz="1200">
                <a:latin typeface="Times New Roman"/>
              </a:rPr>
              <a:t>[USN 3]</a:t>
            </a:r>
          </a:p>
          <a:p>
            <a:pPr>
              <a:spcBef>
                <a:spcPts val="600"/>
              </a:spcBef>
            </a:pPr>
            <a:r>
              <a:rPr sz="1200">
                <a:latin typeface="Times New Roman"/>
              </a:rPr>
              <a:t>[USN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2998" y="601675"/>
            <a:ext cx="6087160" cy="8229600"/>
          </a:xfrm>
          <a:prstGeom prst="rect">
            <a:avLst/>
          </a:prstGeom>
          <a:noFill/>
        </p:spPr>
        <p:txBody>
          <a:bodyPr wrap="square">
            <a:spAutoFit/>
          </a:bodyPr>
          <a:lstStyle/>
          <a:p>
            <a:pPr algn="ctr">
              <a:spcBef>
                <a:spcPts val="100"/>
              </a:spcBef>
            </a:pPr>
            <a:r>
              <a:rPr sz="1600" b="1">
                <a:latin typeface="Times New Roman"/>
              </a:rPr>
              <a:t>ABSTRACT</a:t>
            </a:r>
          </a:p>
          <a:p>
            <a:pPr algn="just">
              <a:spcBef>
                <a:spcPts val="1000"/>
              </a:spcBef>
            </a:pPr>
            <a:r>
              <a:rPr sz="1200">
                <a:latin typeface="Times New Roman"/>
              </a:rPr>
              <a:t>The Elite Rail Online Railway Booking System is a web-based database application developed to streamline and modernize the process of booking railway tickets in India. This system allows users to search for available trains between source and destination cities, select seats from an interactive seat map, and complete bookings with instant confirmation.</a:t>
            </a:r>
          </a:p>
          <a:p>
            <a:pPr algn="just">
              <a:spcBef>
                <a:spcPts val="1000"/>
              </a:spcBef>
            </a:pPr>
            <a:r>
              <a:rPr sz="1200">
                <a:latin typeface="Times New Roman"/>
              </a:rPr>
              <a:t>The application is built using a modern full-stack architecture: the frontend is developed using React.js (Vite) with a premium glassmorphic dark-themed design, while the backend is powered by Node.js with Express.js and SQLite as the database management system. The system incorporates role-based access control, distinguishing between regular users and admin users.</a:t>
            </a:r>
          </a:p>
          <a:p>
            <a:pPr algn="just">
              <a:spcBef>
                <a:spcPts val="1000"/>
              </a:spcBef>
            </a:pPr>
            <a:r>
              <a:rPr sz="1200">
                <a:latin typeface="Times New Roman"/>
              </a:rPr>
              <a:t>Key features of the system include user authentication (login and registration), train search with route and date filtering, interactive seat selection with real-time availability, booking confirmation and journey management, admin panel for adding and managing trains, downloadable PDF e-tickets, and a customer profile with a points-based loyalty system.</a:t>
            </a:r>
          </a:p>
          <a:p>
            <a:pPr algn="just">
              <a:spcBef>
                <a:spcPts val="1000"/>
              </a:spcBef>
            </a:pPr>
            <a:r>
              <a:rPr sz="1200">
                <a:latin typeface="Times New Roman"/>
              </a:rPr>
              <a:t>The database schema includes three core tables: users, trains, and bookings, with proper foreign key relationships enforced. SQL triggers, views, and stored procedures are implemented to maintain data integrity and optimize query performance.</a:t>
            </a:r>
          </a:p>
          <a:p>
            <a:pPr algn="just">
              <a:spcBef>
                <a:spcPts val="1000"/>
              </a:spcBef>
            </a:pPr>
            <a:r>
              <a:rPr sz="1200">
                <a:latin typeface="Times New Roman"/>
              </a:rPr>
              <a:t>This project demonstrates the practical application of Database Management System (DBMS) concepts including Entity-Relationship modeling, normalization, SQL DDL/DML operations, and transaction management in a real-world web application context.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442569"/>
            <a:ext cx="3200400" cy="320040"/>
          </a:xfrm>
          <a:prstGeom prst="rect">
            <a:avLst/>
          </a:prstGeom>
          <a:noFill/>
        </p:spPr>
        <p:txBody>
          <a:bodyPr wrap="square">
            <a:spAutoFit/>
          </a:bodyPr>
          <a:lstStyle/>
          <a:p>
            <a:pPr algn="ctr">
              <a:spcBef>
                <a:spcPts val="100"/>
              </a:spcBef>
            </a:pPr>
            <a:r>
              <a:rPr sz="1600" b="1">
                <a:latin typeface="Times New Roman"/>
              </a:rPr>
              <a:t>TABLE OF CONTENTS</a:t>
            </a:r>
          </a:p>
        </p:txBody>
      </p:sp>
      <p:sp>
        <p:nvSpPr>
          <p:cNvPr id="5" name="TextBox 4"/>
          <p:cNvSpPr txBox="1"/>
          <p:nvPr/>
        </p:nvSpPr>
        <p:spPr>
          <a:xfrm>
            <a:off x="886053" y="960120"/>
            <a:ext cx="914400" cy="237744"/>
          </a:xfrm>
          <a:prstGeom prst="rect">
            <a:avLst/>
          </a:prstGeom>
          <a:noFill/>
        </p:spPr>
        <p:txBody>
          <a:bodyPr wrap="square">
            <a:spAutoFit/>
          </a:bodyPr>
          <a:lstStyle/>
          <a:p>
            <a:pPr>
              <a:spcBef>
                <a:spcPts val="100"/>
              </a:spcBef>
            </a:pPr>
            <a:r>
              <a:rPr sz="1400" b="1">
                <a:latin typeface="Times New Roman"/>
              </a:rPr>
              <a:t>CHAPTER</a:t>
            </a:r>
          </a:p>
        </p:txBody>
      </p:sp>
      <p:sp>
        <p:nvSpPr>
          <p:cNvPr id="6" name="TextBox 5"/>
          <p:cNvSpPr txBox="1"/>
          <p:nvPr/>
        </p:nvSpPr>
        <p:spPr>
          <a:xfrm>
            <a:off x="2011680" y="997610"/>
            <a:ext cx="4114800" cy="210312"/>
          </a:xfrm>
          <a:prstGeom prst="rect">
            <a:avLst/>
          </a:prstGeom>
          <a:noFill/>
        </p:spPr>
        <p:txBody>
          <a:bodyPr wrap="square">
            <a:spAutoFit/>
          </a:bodyPr>
          <a:lstStyle/>
          <a:p>
            <a:pPr>
              <a:spcBef>
                <a:spcPts val="100"/>
              </a:spcBef>
            </a:pPr>
            <a:r>
              <a:rPr sz="1200" b="1">
                <a:latin typeface="Times New Roman"/>
              </a:rPr>
              <a:t>DESCRIPTIONS</a:t>
            </a:r>
          </a:p>
        </p:txBody>
      </p:sp>
      <p:sp>
        <p:nvSpPr>
          <p:cNvPr id="7" name="TextBox 6"/>
          <p:cNvSpPr txBox="1"/>
          <p:nvPr/>
        </p:nvSpPr>
        <p:spPr>
          <a:xfrm>
            <a:off x="6217920" y="822960"/>
            <a:ext cx="640080" cy="320040"/>
          </a:xfrm>
          <a:prstGeom prst="rect">
            <a:avLst/>
          </a:prstGeom>
          <a:noFill/>
        </p:spPr>
        <p:txBody>
          <a:bodyPr wrap="square">
            <a:spAutoFit/>
          </a:bodyPr>
          <a:lstStyle/>
          <a:p>
            <a:pPr>
              <a:spcBef>
                <a:spcPts val="100"/>
              </a:spcBef>
            </a:pPr>
            <a:r>
              <a:rPr sz="1100" b="1">
                <a:latin typeface="Times New Roman"/>
              </a:rPr>
              <a:t>PAGE
NO.</a:t>
            </a:r>
          </a:p>
        </p:txBody>
      </p:sp>
      <p:sp>
        <p:nvSpPr>
          <p:cNvPr id="8" name="TextBox 7"/>
          <p:cNvSpPr txBox="1"/>
          <p:nvPr/>
        </p:nvSpPr>
        <p:spPr>
          <a:xfrm>
            <a:off x="886053" y="1280160"/>
            <a:ext cx="548640" cy="7315200"/>
          </a:xfrm>
          <a:prstGeom prst="rect">
            <a:avLst/>
          </a:prstGeom>
          <a:noFill/>
        </p:spPr>
        <p:txBody>
          <a:bodyPr wrap="square">
            <a:spAutoFit/>
          </a:bodyPr>
          <a:lstStyle/>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400"/>
              </a:spcBef>
            </a:pPr>
            <a:r>
              <a:rPr sz="1100" b="1">
                <a:latin typeface="Times New Roman"/>
              </a:rPr>
              <a:t>1</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400"/>
              </a:spcBef>
            </a:pPr>
            <a:r>
              <a:rPr sz="1100" b="1">
                <a:latin typeface="Times New Roman"/>
              </a:rPr>
              <a:t>2</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400"/>
              </a:spcBef>
            </a:pPr>
            <a:r>
              <a:rPr sz="1100" b="1">
                <a:latin typeface="Times New Roman"/>
              </a:rPr>
              <a:t>3</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a:p>
            <a:pPr>
              <a:spcBef>
                <a:spcPts val="400"/>
              </a:spcBef>
            </a:pPr>
            <a:r>
              <a:rPr sz="1100" b="1">
                <a:latin typeface="Times New Roman"/>
              </a:rPr>
              <a:t>4</a:t>
            </a:r>
          </a:p>
          <a:p>
            <a:pPr>
              <a:spcBef>
                <a:spcPts val="150"/>
              </a:spcBef>
            </a:pPr>
            <a:r>
              <a:rPr sz="1100" b="0">
                <a:latin typeface="Times New Roman"/>
              </a:rPr>
              <a:t/>
            </a:r>
          </a:p>
          <a:p>
            <a:pPr>
              <a:spcBef>
                <a:spcPts val="400"/>
              </a:spcBef>
            </a:pPr>
            <a:r>
              <a:rPr sz="1100" b="1">
                <a:latin typeface="Times New Roman"/>
              </a:rPr>
              <a:t>5</a:t>
            </a:r>
          </a:p>
          <a:p>
            <a:pPr>
              <a:spcBef>
                <a:spcPts val="150"/>
              </a:spcBef>
            </a:pPr>
            <a:r>
              <a:rPr sz="1100" b="0">
                <a:latin typeface="Times New Roman"/>
              </a:rPr>
              <a:t/>
            </a:r>
          </a:p>
          <a:p>
            <a:pPr>
              <a:spcBef>
                <a:spcPts val="150"/>
              </a:spcBef>
            </a:pPr>
            <a:r>
              <a:rPr sz="1100" b="0">
                <a:latin typeface="Times New Roman"/>
              </a:rPr>
              <a:t/>
            </a:r>
          </a:p>
          <a:p>
            <a:pPr>
              <a:spcBef>
                <a:spcPts val="150"/>
              </a:spcBef>
            </a:pPr>
            <a:r>
              <a:rPr sz="1100" b="0">
                <a:latin typeface="Times New Roman"/>
              </a:rPr>
              <a:t/>
            </a:r>
          </a:p>
        </p:txBody>
      </p:sp>
      <p:sp>
        <p:nvSpPr>
          <p:cNvPr id="9" name="TextBox 8"/>
          <p:cNvSpPr txBox="1"/>
          <p:nvPr/>
        </p:nvSpPr>
        <p:spPr>
          <a:xfrm>
            <a:off x="1463040" y="1280160"/>
            <a:ext cx="4754880" cy="7315200"/>
          </a:xfrm>
          <a:prstGeom prst="rect">
            <a:avLst/>
          </a:prstGeom>
          <a:noFill/>
        </p:spPr>
        <p:txBody>
          <a:bodyPr wrap="square">
            <a:spAutoFit/>
          </a:bodyPr>
          <a:lstStyle/>
          <a:p>
            <a:pPr>
              <a:spcBef>
                <a:spcPts val="150"/>
              </a:spcBef>
            </a:pPr>
            <a:r>
              <a:rPr sz="1100" b="0">
                <a:latin typeface="Times New Roman"/>
              </a:rPr>
              <a:t>Certificate</a:t>
            </a:r>
          </a:p>
          <a:p>
            <a:pPr>
              <a:spcBef>
                <a:spcPts val="150"/>
              </a:spcBef>
            </a:pPr>
            <a:r>
              <a:rPr sz="1100" b="0">
                <a:latin typeface="Times New Roman"/>
              </a:rPr>
              <a:t>Declaration</a:t>
            </a:r>
          </a:p>
          <a:p>
            <a:pPr>
              <a:spcBef>
                <a:spcPts val="150"/>
              </a:spcBef>
            </a:pPr>
            <a:r>
              <a:rPr sz="1100" b="0">
                <a:latin typeface="Times New Roman"/>
              </a:rPr>
              <a:t>Acknowledgement</a:t>
            </a:r>
          </a:p>
          <a:p>
            <a:pPr>
              <a:spcBef>
                <a:spcPts val="150"/>
              </a:spcBef>
            </a:pPr>
            <a:r>
              <a:rPr sz="1100" b="0">
                <a:latin typeface="Times New Roman"/>
              </a:rPr>
              <a:t>Abstract</a:t>
            </a:r>
          </a:p>
          <a:p>
            <a:pPr>
              <a:spcBef>
                <a:spcPts val="150"/>
              </a:spcBef>
            </a:pPr>
            <a:r>
              <a:rPr sz="1100" b="0">
                <a:latin typeface="Times New Roman"/>
              </a:rPr>
              <a:t>Table of Contents</a:t>
            </a:r>
          </a:p>
          <a:p>
            <a:pPr>
              <a:spcBef>
                <a:spcPts val="150"/>
              </a:spcBef>
            </a:pPr>
            <a:r>
              <a:rPr sz="1100" b="0">
                <a:latin typeface="Times New Roman"/>
              </a:rPr>
              <a:t>List of Figures</a:t>
            </a:r>
          </a:p>
          <a:p>
            <a:pPr>
              <a:spcBef>
                <a:spcPts val="400"/>
              </a:spcBef>
            </a:pPr>
            <a:r>
              <a:rPr sz="1100" b="1">
                <a:latin typeface="Times New Roman"/>
              </a:rPr>
              <a:t>INTRODUCTION</a:t>
            </a:r>
          </a:p>
          <a:p>
            <a:pPr>
              <a:spcBef>
                <a:spcPts val="150"/>
              </a:spcBef>
            </a:pPr>
            <a:r>
              <a:rPr sz="1100" b="0">
                <a:latin typeface="Times New Roman"/>
              </a:rPr>
              <a:t>   1.1  Introduction to the Project</a:t>
            </a:r>
          </a:p>
          <a:p>
            <a:pPr>
              <a:spcBef>
                <a:spcPts val="150"/>
              </a:spcBef>
            </a:pPr>
            <a:r>
              <a:rPr sz="1100" b="0">
                <a:latin typeface="Times New Roman"/>
              </a:rPr>
              <a:t>   1.2  Problem Statement</a:t>
            </a:r>
          </a:p>
          <a:p>
            <a:pPr>
              <a:spcBef>
                <a:spcPts val="150"/>
              </a:spcBef>
            </a:pPr>
            <a:r>
              <a:rPr sz="1100" b="0">
                <a:latin typeface="Times New Roman"/>
              </a:rPr>
              <a:t>   1.3  Objectives and Scope</a:t>
            </a:r>
          </a:p>
          <a:p>
            <a:pPr>
              <a:spcBef>
                <a:spcPts val="150"/>
              </a:spcBef>
            </a:pPr>
            <a:r>
              <a:rPr sz="1100" b="0">
                <a:latin typeface="Times New Roman"/>
              </a:rPr>
              <a:t>   1.4  Proposed Solutions &amp; Advantages</a:t>
            </a:r>
          </a:p>
          <a:p>
            <a:pPr>
              <a:spcBef>
                <a:spcPts val="400"/>
              </a:spcBef>
            </a:pPr>
            <a:r>
              <a:rPr sz="1100" b="1">
                <a:latin typeface="Times New Roman"/>
              </a:rPr>
              <a:t>SYSTEM DESIGN</a:t>
            </a:r>
          </a:p>
          <a:p>
            <a:pPr>
              <a:spcBef>
                <a:spcPts val="150"/>
              </a:spcBef>
            </a:pPr>
            <a:r>
              <a:rPr sz="1100" b="0">
                <a:latin typeface="Times New Roman"/>
              </a:rPr>
              <a:t>   2.1  Schema Diagram</a:t>
            </a:r>
          </a:p>
          <a:p>
            <a:pPr>
              <a:spcBef>
                <a:spcPts val="150"/>
              </a:spcBef>
            </a:pPr>
            <a:r>
              <a:rPr sz="1100" b="0">
                <a:latin typeface="Times New Roman"/>
              </a:rPr>
              <a:t>   2.2  ER Diagram</a:t>
            </a:r>
          </a:p>
          <a:p>
            <a:pPr>
              <a:spcBef>
                <a:spcPts val="150"/>
              </a:spcBef>
            </a:pPr>
            <a:r>
              <a:rPr sz="1100" b="0">
                <a:latin typeface="Times New Roman"/>
              </a:rPr>
              <a:t>   2.3  Normalization</a:t>
            </a:r>
          </a:p>
          <a:p>
            <a:pPr>
              <a:spcBef>
                <a:spcPts val="400"/>
              </a:spcBef>
            </a:pPr>
            <a:r>
              <a:rPr sz="1100" b="1">
                <a:latin typeface="Times New Roman"/>
              </a:rPr>
              <a:t>IMPLEMENTATION</a:t>
            </a:r>
          </a:p>
          <a:p>
            <a:pPr>
              <a:spcBef>
                <a:spcPts val="150"/>
              </a:spcBef>
            </a:pPr>
            <a:r>
              <a:rPr sz="1100" b="0">
                <a:latin typeface="Times New Roman"/>
              </a:rPr>
              <a:t>   3.1  Technology Stack and Platform</a:t>
            </a:r>
          </a:p>
          <a:p>
            <a:pPr>
              <a:spcBef>
                <a:spcPts val="150"/>
              </a:spcBef>
            </a:pPr>
            <a:r>
              <a:rPr sz="1100" b="0">
                <a:latin typeface="Times New Roman"/>
              </a:rPr>
              <a:t>   3.2  Database Implementation (DDL)</a:t>
            </a:r>
          </a:p>
          <a:p>
            <a:pPr>
              <a:spcBef>
                <a:spcPts val="150"/>
              </a:spcBef>
            </a:pPr>
            <a:r>
              <a:rPr sz="1100" b="0">
                <a:latin typeface="Times New Roman"/>
              </a:rPr>
              <a:t>   3.3  Database Implementation (DML)</a:t>
            </a:r>
          </a:p>
          <a:p>
            <a:pPr>
              <a:spcBef>
                <a:spcPts val="150"/>
              </a:spcBef>
            </a:pPr>
            <a:r>
              <a:rPr sz="1100" b="0">
                <a:latin typeface="Times New Roman"/>
              </a:rPr>
              <a:t>   3.4  Triggers, Views &amp; Procedures</a:t>
            </a:r>
          </a:p>
          <a:p>
            <a:pPr>
              <a:spcBef>
                <a:spcPts val="150"/>
              </a:spcBef>
            </a:pPr>
            <a:r>
              <a:rPr sz="1100" b="0">
                <a:latin typeface="Times New Roman"/>
              </a:rPr>
              <a:t>   3.5  Backend Connection &amp; API Setup</a:t>
            </a:r>
          </a:p>
          <a:p>
            <a:pPr>
              <a:spcBef>
                <a:spcPts val="400"/>
              </a:spcBef>
            </a:pPr>
            <a:r>
              <a:rPr sz="1100" b="1">
                <a:latin typeface="Times New Roman"/>
              </a:rPr>
              <a:t>RESULT</a:t>
            </a:r>
          </a:p>
          <a:p>
            <a:pPr>
              <a:spcBef>
                <a:spcPts val="150"/>
              </a:spcBef>
            </a:pPr>
            <a:r>
              <a:rPr sz="1100" b="0">
                <a:latin typeface="Times New Roman"/>
              </a:rPr>
              <a:t>   4.1  Snapshots</a:t>
            </a:r>
          </a:p>
          <a:p>
            <a:pPr>
              <a:spcBef>
                <a:spcPts val="400"/>
              </a:spcBef>
            </a:pPr>
            <a:r>
              <a:rPr sz="1100" b="1">
                <a:latin typeface="Times New Roman"/>
              </a:rPr>
              <a:t>CONCLUSION AND FUTURE ENHANCEMENT</a:t>
            </a:r>
          </a:p>
          <a:p>
            <a:pPr>
              <a:spcBef>
                <a:spcPts val="150"/>
              </a:spcBef>
            </a:pPr>
            <a:r>
              <a:rPr sz="1100" b="0">
                <a:latin typeface="Times New Roman"/>
              </a:rPr>
              <a:t>   5.1  Conclusion</a:t>
            </a:r>
          </a:p>
          <a:p>
            <a:pPr>
              <a:spcBef>
                <a:spcPts val="150"/>
              </a:spcBef>
            </a:pPr>
            <a:r>
              <a:rPr sz="1100" b="0">
                <a:latin typeface="Times New Roman"/>
              </a:rPr>
              <a:t>   5.2  Future Enhancements</a:t>
            </a:r>
          </a:p>
          <a:p>
            <a:pPr>
              <a:spcBef>
                <a:spcPts val="150"/>
              </a:spcBef>
            </a:pPr>
            <a:r>
              <a:rPr sz="1100" b="0">
                <a:latin typeface="Times New Roman"/>
              </a:rPr>
              <a:t>REFERENCES</a:t>
            </a:r>
          </a:p>
        </p:txBody>
      </p:sp>
      <p:sp>
        <p:nvSpPr>
          <p:cNvPr id="10" name="TextBox 9"/>
          <p:cNvSpPr txBox="1"/>
          <p:nvPr/>
        </p:nvSpPr>
        <p:spPr>
          <a:xfrm>
            <a:off x="6217920" y="1280160"/>
            <a:ext cx="640080" cy="7315200"/>
          </a:xfrm>
          <a:prstGeom prst="rect">
            <a:avLst/>
          </a:prstGeom>
          <a:noFill/>
        </p:spPr>
        <p:txBody>
          <a:bodyPr wrap="square">
            <a:spAutoFit/>
          </a:bodyPr>
          <a:lstStyle/>
          <a:p>
            <a:pPr algn="r">
              <a:spcBef>
                <a:spcPts val="150"/>
              </a:spcBef>
            </a:pPr>
            <a:r>
              <a:rPr sz="1100" b="0">
                <a:latin typeface="Times New Roman"/>
              </a:rPr>
              <a:t>i</a:t>
            </a:r>
          </a:p>
          <a:p>
            <a:pPr algn="r">
              <a:spcBef>
                <a:spcPts val="150"/>
              </a:spcBef>
            </a:pPr>
            <a:r>
              <a:rPr sz="1100" b="0">
                <a:latin typeface="Times New Roman"/>
              </a:rPr>
              <a:t>ii</a:t>
            </a:r>
          </a:p>
          <a:p>
            <a:pPr algn="r">
              <a:spcBef>
                <a:spcPts val="150"/>
              </a:spcBef>
            </a:pPr>
            <a:r>
              <a:rPr sz="1100" b="0">
                <a:latin typeface="Times New Roman"/>
              </a:rPr>
              <a:t>iii</a:t>
            </a:r>
          </a:p>
          <a:p>
            <a:pPr algn="r">
              <a:spcBef>
                <a:spcPts val="150"/>
              </a:spcBef>
            </a:pPr>
            <a:r>
              <a:rPr sz="1100" b="0">
                <a:latin typeface="Times New Roman"/>
              </a:rPr>
              <a:t>iv</a:t>
            </a:r>
          </a:p>
          <a:p>
            <a:pPr algn="r">
              <a:spcBef>
                <a:spcPts val="150"/>
              </a:spcBef>
            </a:pPr>
            <a:r>
              <a:rPr sz="1100" b="0">
                <a:latin typeface="Times New Roman"/>
              </a:rPr>
              <a:t>v</a:t>
            </a:r>
          </a:p>
          <a:p>
            <a:pPr algn="r">
              <a:spcBef>
                <a:spcPts val="150"/>
              </a:spcBef>
            </a:pPr>
            <a:r>
              <a:rPr sz="1100" b="0">
                <a:latin typeface="Times New Roman"/>
              </a:rPr>
              <a:t>vi</a:t>
            </a:r>
          </a:p>
          <a:p>
            <a:pPr algn="r">
              <a:spcBef>
                <a:spcPts val="400"/>
              </a:spcBef>
            </a:pPr>
            <a:r>
              <a:rPr sz="1100" b="1">
                <a:latin typeface="Times New Roman"/>
              </a:rPr>
              <a:t>1</a:t>
            </a:r>
          </a:p>
          <a:p>
            <a:pPr algn="r">
              <a:spcBef>
                <a:spcPts val="150"/>
              </a:spcBef>
            </a:pPr>
            <a:r>
              <a:rPr sz="1100" b="0">
                <a:latin typeface="Times New Roman"/>
              </a:rPr>
              <a:t>1</a:t>
            </a:r>
          </a:p>
          <a:p>
            <a:pPr algn="r">
              <a:spcBef>
                <a:spcPts val="150"/>
              </a:spcBef>
            </a:pPr>
            <a:r>
              <a:rPr sz="1100" b="0">
                <a:latin typeface="Times New Roman"/>
              </a:rPr>
              <a:t>2</a:t>
            </a:r>
          </a:p>
          <a:p>
            <a:pPr algn="r">
              <a:spcBef>
                <a:spcPts val="150"/>
              </a:spcBef>
            </a:pPr>
            <a:r>
              <a:rPr sz="1100" b="0">
                <a:latin typeface="Times New Roman"/>
              </a:rPr>
              <a:t>3</a:t>
            </a:r>
          </a:p>
          <a:p>
            <a:pPr algn="r">
              <a:spcBef>
                <a:spcPts val="150"/>
              </a:spcBef>
            </a:pPr>
            <a:r>
              <a:rPr sz="1100" b="0">
                <a:latin typeface="Times New Roman"/>
              </a:rPr>
              <a:t>4</a:t>
            </a:r>
          </a:p>
          <a:p>
            <a:pPr algn="r">
              <a:spcBef>
                <a:spcPts val="400"/>
              </a:spcBef>
            </a:pPr>
            <a:r>
              <a:rPr sz="1100" b="1">
                <a:latin typeface="Times New Roman"/>
              </a:rPr>
              <a:t>5</a:t>
            </a:r>
          </a:p>
          <a:p>
            <a:pPr algn="r">
              <a:spcBef>
                <a:spcPts val="150"/>
              </a:spcBef>
            </a:pPr>
            <a:r>
              <a:rPr sz="1100" b="0">
                <a:latin typeface="Times New Roman"/>
              </a:rPr>
              <a:t>5</a:t>
            </a:r>
          </a:p>
          <a:p>
            <a:pPr algn="r">
              <a:spcBef>
                <a:spcPts val="150"/>
              </a:spcBef>
            </a:pPr>
            <a:r>
              <a:rPr sz="1100" b="0">
                <a:latin typeface="Times New Roman"/>
              </a:rPr>
              <a:t>6</a:t>
            </a:r>
          </a:p>
          <a:p>
            <a:pPr algn="r">
              <a:spcBef>
                <a:spcPts val="150"/>
              </a:spcBef>
            </a:pPr>
            <a:r>
              <a:rPr sz="1100" b="0">
                <a:latin typeface="Times New Roman"/>
              </a:rPr>
              <a:t>7</a:t>
            </a:r>
          </a:p>
          <a:p>
            <a:pPr algn="r">
              <a:spcBef>
                <a:spcPts val="400"/>
              </a:spcBef>
            </a:pPr>
            <a:r>
              <a:rPr sz="1100" b="1">
                <a:latin typeface="Times New Roman"/>
              </a:rPr>
              <a:t>8</a:t>
            </a:r>
          </a:p>
          <a:p>
            <a:pPr algn="r">
              <a:spcBef>
                <a:spcPts val="150"/>
              </a:spcBef>
            </a:pPr>
            <a:r>
              <a:rPr sz="1100" b="0">
                <a:latin typeface="Times New Roman"/>
              </a:rPr>
              <a:t>8</a:t>
            </a:r>
          </a:p>
          <a:p>
            <a:pPr algn="r">
              <a:spcBef>
                <a:spcPts val="150"/>
              </a:spcBef>
            </a:pPr>
            <a:r>
              <a:rPr sz="1100" b="0">
                <a:latin typeface="Times New Roman"/>
              </a:rPr>
              <a:t>9-10</a:t>
            </a:r>
          </a:p>
          <a:p>
            <a:pPr algn="r">
              <a:spcBef>
                <a:spcPts val="150"/>
              </a:spcBef>
            </a:pPr>
            <a:r>
              <a:rPr sz="1100" b="0">
                <a:latin typeface="Times New Roman"/>
              </a:rPr>
              <a:t>11-14</a:t>
            </a:r>
          </a:p>
          <a:p>
            <a:pPr algn="r">
              <a:spcBef>
                <a:spcPts val="150"/>
              </a:spcBef>
            </a:pPr>
            <a:r>
              <a:rPr sz="1100" b="0">
                <a:latin typeface="Times New Roman"/>
              </a:rPr>
              <a:t>15-17</a:t>
            </a:r>
          </a:p>
          <a:p>
            <a:pPr algn="r">
              <a:spcBef>
                <a:spcPts val="150"/>
              </a:spcBef>
            </a:pPr>
            <a:r>
              <a:rPr sz="1100" b="0">
                <a:latin typeface="Times New Roman"/>
              </a:rPr>
              <a:t>18-21</a:t>
            </a:r>
          </a:p>
          <a:p>
            <a:pPr algn="r">
              <a:spcBef>
                <a:spcPts val="400"/>
              </a:spcBef>
            </a:pPr>
            <a:r>
              <a:rPr sz="1100" b="1">
                <a:latin typeface="Times New Roman"/>
              </a:rPr>
              <a:t>22</a:t>
            </a:r>
          </a:p>
          <a:p>
            <a:pPr algn="r">
              <a:spcBef>
                <a:spcPts val="150"/>
              </a:spcBef>
            </a:pPr>
            <a:r>
              <a:rPr sz="1100" b="0">
                <a:latin typeface="Times New Roman"/>
              </a:rPr>
              <a:t>22-25</a:t>
            </a:r>
          </a:p>
          <a:p>
            <a:pPr algn="r">
              <a:spcBef>
                <a:spcPts val="400"/>
              </a:spcBef>
            </a:pPr>
            <a:r>
              <a:rPr sz="1100" b="1">
                <a:latin typeface="Times New Roman"/>
              </a:rPr>
              <a:t>26</a:t>
            </a:r>
          </a:p>
          <a:p>
            <a:pPr algn="r">
              <a:spcBef>
                <a:spcPts val="150"/>
              </a:spcBef>
            </a:pPr>
            <a:r>
              <a:rPr sz="1100" b="0">
                <a:latin typeface="Times New Roman"/>
              </a:rPr>
              <a:t>26</a:t>
            </a:r>
          </a:p>
          <a:p>
            <a:pPr algn="r">
              <a:spcBef>
                <a:spcPts val="150"/>
              </a:spcBef>
            </a:pPr>
            <a:r>
              <a:rPr sz="1100" b="0">
                <a:latin typeface="Times New Roman"/>
              </a:rPr>
              <a:t>27</a:t>
            </a:r>
          </a:p>
          <a:p>
            <a:pPr algn="r">
              <a:spcBef>
                <a:spcPts val="150"/>
              </a:spcBef>
            </a:pPr>
            <a:r>
              <a:rPr sz="1100" b="0">
                <a:latin typeface="Times New Roman"/>
              </a:rPr>
              <a:t>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657453"/>
            <a:ext cx="3200400" cy="320040"/>
          </a:xfrm>
          <a:prstGeom prst="rect">
            <a:avLst/>
          </a:prstGeom>
          <a:noFill/>
        </p:spPr>
        <p:txBody>
          <a:bodyPr wrap="square">
            <a:spAutoFit/>
          </a:bodyPr>
          <a:lstStyle/>
          <a:p>
            <a:pPr algn="ctr">
              <a:spcBef>
                <a:spcPts val="100"/>
              </a:spcBef>
            </a:pPr>
            <a:r>
              <a:rPr sz="1600" b="1">
                <a:latin typeface="Times New Roman"/>
              </a:rPr>
              <a:t>LIST OF FIGURES</a:t>
            </a:r>
          </a:p>
        </p:txBody>
      </p:sp>
      <p:sp>
        <p:nvSpPr>
          <p:cNvPr id="5" name="TextBox 4"/>
          <p:cNvSpPr txBox="1"/>
          <p:nvPr/>
        </p:nvSpPr>
        <p:spPr>
          <a:xfrm>
            <a:off x="914400" y="1234440"/>
            <a:ext cx="1097280" cy="5486400"/>
          </a:xfrm>
          <a:prstGeom prst="rect">
            <a:avLst/>
          </a:prstGeom>
          <a:noFill/>
        </p:spPr>
        <p:txBody>
          <a:bodyPr wrap="square">
            <a:spAutoFit/>
          </a:bodyPr>
          <a:lstStyle/>
          <a:p>
            <a:pPr>
              <a:spcBef>
                <a:spcPts val="800"/>
              </a:spcBef>
            </a:pPr>
            <a:r>
              <a:rPr sz="1200">
                <a:latin typeface="Times New Roman"/>
              </a:rPr>
              <a:t>Fig 2.1</a:t>
            </a:r>
          </a:p>
          <a:p>
            <a:pPr>
              <a:spcBef>
                <a:spcPts val="800"/>
              </a:spcBef>
            </a:pPr>
            <a:r>
              <a:rPr sz="1200">
                <a:latin typeface="Times New Roman"/>
              </a:rPr>
              <a:t>Fig 2.2</a:t>
            </a:r>
          </a:p>
          <a:p>
            <a:pPr>
              <a:spcBef>
                <a:spcPts val="800"/>
              </a:spcBef>
            </a:pPr>
            <a:r>
              <a:rPr sz="1200">
                <a:latin typeface="Times New Roman"/>
              </a:rPr>
              <a:t>Fig 3.1</a:t>
            </a:r>
          </a:p>
          <a:p>
            <a:pPr>
              <a:spcBef>
                <a:spcPts val="800"/>
              </a:spcBef>
            </a:pPr>
            <a:r>
              <a:rPr sz="1200">
                <a:latin typeface="Times New Roman"/>
              </a:rPr>
              <a:t>Fig 3.2</a:t>
            </a:r>
          </a:p>
          <a:p>
            <a:pPr>
              <a:spcBef>
                <a:spcPts val="800"/>
              </a:spcBef>
            </a:pPr>
            <a:r>
              <a:rPr sz="1200">
                <a:latin typeface="Times New Roman"/>
              </a:rPr>
              <a:t>Fig 3.3</a:t>
            </a:r>
          </a:p>
          <a:p>
            <a:pPr>
              <a:spcBef>
                <a:spcPts val="800"/>
              </a:spcBef>
            </a:pPr>
            <a:r>
              <a:rPr sz="1200">
                <a:latin typeface="Times New Roman"/>
              </a:rPr>
              <a:t>Fig 3.4</a:t>
            </a:r>
          </a:p>
          <a:p>
            <a:pPr>
              <a:spcBef>
                <a:spcPts val="800"/>
              </a:spcBef>
            </a:pPr>
            <a:r>
              <a:rPr sz="1200">
                <a:latin typeface="Times New Roman"/>
              </a:rPr>
              <a:t>Fig 3.5</a:t>
            </a:r>
          </a:p>
          <a:p>
            <a:pPr>
              <a:spcBef>
                <a:spcPts val="800"/>
              </a:spcBef>
            </a:pPr>
            <a:r>
              <a:rPr sz="1200">
                <a:latin typeface="Times New Roman"/>
              </a:rPr>
              <a:t>Fig 3.6</a:t>
            </a:r>
          </a:p>
          <a:p>
            <a:pPr>
              <a:spcBef>
                <a:spcPts val="800"/>
              </a:spcBef>
            </a:pPr>
            <a:r>
              <a:rPr sz="1200">
                <a:latin typeface="Times New Roman"/>
              </a:rPr>
              <a:t>Fig 3.7</a:t>
            </a:r>
          </a:p>
        </p:txBody>
      </p:sp>
      <p:sp>
        <p:nvSpPr>
          <p:cNvPr id="6" name="TextBox 5"/>
          <p:cNvSpPr txBox="1"/>
          <p:nvPr/>
        </p:nvSpPr>
        <p:spPr>
          <a:xfrm>
            <a:off x="2194560" y="1234440"/>
            <a:ext cx="4114800" cy="5486400"/>
          </a:xfrm>
          <a:prstGeom prst="rect">
            <a:avLst/>
          </a:prstGeom>
          <a:noFill/>
        </p:spPr>
        <p:txBody>
          <a:bodyPr wrap="square">
            <a:spAutoFit/>
          </a:bodyPr>
          <a:lstStyle/>
          <a:p>
            <a:pPr>
              <a:spcBef>
                <a:spcPts val="800"/>
              </a:spcBef>
            </a:pPr>
            <a:r>
              <a:rPr sz="1200">
                <a:latin typeface="Times New Roman"/>
              </a:rPr>
              <a:t>Schema Diagram</a:t>
            </a:r>
          </a:p>
          <a:p>
            <a:pPr>
              <a:spcBef>
                <a:spcPts val="800"/>
              </a:spcBef>
            </a:pPr>
            <a:r>
              <a:rPr sz="1200">
                <a:latin typeface="Times New Roman"/>
              </a:rPr>
              <a:t>ER Diagram</a:t>
            </a:r>
          </a:p>
          <a:p>
            <a:pPr>
              <a:spcBef>
                <a:spcPts val="800"/>
              </a:spcBef>
            </a:pPr>
            <a:r>
              <a:rPr sz="1200">
                <a:latin typeface="Times New Roman"/>
              </a:rPr>
              <a:t>Home Page – Train Search</a:t>
            </a:r>
          </a:p>
          <a:p>
            <a:pPr>
              <a:spcBef>
                <a:spcPts val="800"/>
              </a:spcBef>
            </a:pPr>
            <a:r>
              <a:rPr sz="1200">
                <a:latin typeface="Times New Roman"/>
              </a:rPr>
              <a:t>Dashboard Page</a:t>
            </a:r>
          </a:p>
          <a:p>
            <a:pPr>
              <a:spcBef>
                <a:spcPts val="800"/>
              </a:spcBef>
            </a:pPr>
            <a:r>
              <a:rPr sz="1200">
                <a:latin typeface="Times New Roman"/>
              </a:rPr>
              <a:t>Home Page Full View</a:t>
            </a:r>
          </a:p>
          <a:p>
            <a:pPr>
              <a:spcBef>
                <a:spcPts val="800"/>
              </a:spcBef>
            </a:pPr>
            <a:r>
              <a:rPr sz="1200">
                <a:latin typeface="Times New Roman"/>
              </a:rPr>
              <a:t>Train Scheduling &amp; Management</a:t>
            </a:r>
          </a:p>
          <a:p>
            <a:pPr>
              <a:spcBef>
                <a:spcPts val="800"/>
              </a:spcBef>
            </a:pPr>
            <a:r>
              <a:rPr sz="1200">
                <a:latin typeface="Times New Roman"/>
              </a:rPr>
              <a:t>Seat Selection &amp; Booking Confirmation</a:t>
            </a:r>
          </a:p>
          <a:p>
            <a:pPr>
              <a:spcBef>
                <a:spcPts val="800"/>
              </a:spcBef>
            </a:pPr>
            <a:r>
              <a:rPr sz="1200">
                <a:latin typeface="Times New Roman"/>
              </a:rPr>
              <a:t>My Journeys Page</a:t>
            </a:r>
          </a:p>
          <a:p>
            <a:pPr>
              <a:spcBef>
                <a:spcPts val="800"/>
              </a:spcBef>
            </a:pPr>
            <a:r>
              <a:rPr sz="1200">
                <a:latin typeface="Times New Roman"/>
              </a:rPr>
              <a:t>About Page</a:t>
            </a:r>
          </a:p>
        </p:txBody>
      </p:sp>
      <p:sp>
        <p:nvSpPr>
          <p:cNvPr id="7" name="TextBox 6"/>
          <p:cNvSpPr txBox="1"/>
          <p:nvPr/>
        </p:nvSpPr>
        <p:spPr>
          <a:xfrm>
            <a:off x="6400800" y="1234440"/>
            <a:ext cx="640080" cy="5486400"/>
          </a:xfrm>
          <a:prstGeom prst="rect">
            <a:avLst/>
          </a:prstGeom>
          <a:noFill/>
        </p:spPr>
        <p:txBody>
          <a:bodyPr wrap="square">
            <a:spAutoFit/>
          </a:bodyPr>
          <a:lstStyle/>
          <a:p>
            <a:pPr algn="r">
              <a:spcBef>
                <a:spcPts val="800"/>
              </a:spcBef>
            </a:pPr>
            <a:r>
              <a:rPr sz="1200">
                <a:latin typeface="Times New Roman"/>
              </a:rPr>
              <a:t>5</a:t>
            </a:r>
          </a:p>
          <a:p>
            <a:pPr algn="r">
              <a:spcBef>
                <a:spcPts val="800"/>
              </a:spcBef>
            </a:pPr>
            <a:r>
              <a:rPr sz="1200">
                <a:latin typeface="Times New Roman"/>
              </a:rPr>
              <a:t>6</a:t>
            </a:r>
          </a:p>
          <a:p>
            <a:pPr algn="r">
              <a:spcBef>
                <a:spcPts val="800"/>
              </a:spcBef>
            </a:pPr>
            <a:r>
              <a:rPr sz="1200">
                <a:latin typeface="Times New Roman"/>
              </a:rPr>
              <a:t>22</a:t>
            </a:r>
          </a:p>
          <a:p>
            <a:pPr algn="r">
              <a:spcBef>
                <a:spcPts val="800"/>
              </a:spcBef>
            </a:pPr>
            <a:r>
              <a:rPr sz="1200">
                <a:latin typeface="Times New Roman"/>
              </a:rPr>
              <a:t>22</a:t>
            </a:r>
          </a:p>
          <a:p>
            <a:pPr algn="r">
              <a:spcBef>
                <a:spcPts val="800"/>
              </a:spcBef>
            </a:pPr>
            <a:r>
              <a:rPr sz="1200">
                <a:latin typeface="Times New Roman"/>
              </a:rPr>
              <a:t>23</a:t>
            </a:r>
          </a:p>
          <a:p>
            <a:pPr algn="r">
              <a:spcBef>
                <a:spcPts val="800"/>
              </a:spcBef>
            </a:pPr>
            <a:r>
              <a:rPr sz="1200">
                <a:latin typeface="Times New Roman"/>
              </a:rPr>
              <a:t>23</a:t>
            </a:r>
          </a:p>
          <a:p>
            <a:pPr algn="r">
              <a:spcBef>
                <a:spcPts val="800"/>
              </a:spcBef>
            </a:pPr>
            <a:r>
              <a:rPr sz="1200">
                <a:latin typeface="Times New Roman"/>
              </a:rPr>
              <a:t>24</a:t>
            </a:r>
          </a:p>
          <a:p>
            <a:pPr algn="r">
              <a:spcBef>
                <a:spcPts val="800"/>
              </a:spcBef>
            </a:pPr>
            <a:r>
              <a:rPr sz="1200">
                <a:latin typeface="Times New Roman"/>
              </a:rPr>
              <a:t>24</a:t>
            </a:r>
          </a:p>
          <a:p>
            <a:pPr algn="r">
              <a:spcBef>
                <a:spcPts val="800"/>
              </a:spcBef>
            </a:pPr>
            <a:r>
              <a:rPr sz="1200">
                <a:latin typeface="Times New Roman"/>
              </a:rPr>
              <a:t>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875995"/>
            <a:ext cx="1097280" cy="237744"/>
          </a:xfrm>
          <a:prstGeom prst="rect">
            <a:avLst/>
          </a:prstGeom>
          <a:noFill/>
        </p:spPr>
        <p:txBody>
          <a:bodyPr wrap="square">
            <a:spAutoFit/>
          </a:bodyPr>
          <a:lstStyle/>
          <a:p>
            <a:pPr>
              <a:spcBef>
                <a:spcPts val="100"/>
              </a:spcBef>
            </a:pPr>
            <a:r>
              <a:rPr sz="1400" b="1">
                <a:latin typeface="Times New Roman"/>
              </a:rPr>
              <a:t>CHAPTER 1</a:t>
            </a:r>
          </a:p>
        </p:txBody>
      </p:sp>
      <p:sp>
        <p:nvSpPr>
          <p:cNvPr id="9" name="TextBox 8"/>
          <p:cNvSpPr txBox="1"/>
          <p:nvPr/>
        </p:nvSpPr>
        <p:spPr>
          <a:xfrm>
            <a:off x="1032357" y="1156716"/>
            <a:ext cx="5255971" cy="7772400"/>
          </a:xfrm>
          <a:prstGeom prst="rect">
            <a:avLst/>
          </a:prstGeom>
          <a:noFill/>
        </p:spPr>
        <p:txBody>
          <a:bodyPr wrap="square">
            <a:spAutoFit/>
          </a:bodyPr>
          <a:lstStyle/>
          <a:p>
            <a:pPr>
              <a:spcBef>
                <a:spcPts val="800"/>
              </a:spcBef>
            </a:pPr>
            <a:r>
              <a:rPr sz="1400" b="1">
                <a:latin typeface="Times New Roman"/>
              </a:rPr>
              <a:t>INTRODUCTION</a:t>
            </a:r>
          </a:p>
          <a:p>
            <a:pPr>
              <a:spcBef>
                <a:spcPts val="1200"/>
              </a:spcBef>
            </a:pPr>
            <a:r>
              <a:rPr sz="1400" b="1">
                <a:latin typeface="Times New Roman"/>
              </a:rPr>
              <a:t>1.1 INTRODUCTION TO THE PROJECT</a:t>
            </a:r>
          </a:p>
          <a:p>
            <a:pPr algn="just">
              <a:spcBef>
                <a:spcPts val="800"/>
              </a:spcBef>
            </a:pPr>
            <a:r>
              <a:rPr sz="1200">
                <a:latin typeface="Times New Roman"/>
              </a:rPr>
              <a:t>The Elite Rail Online Railway Booking System is a web-based database application designed to streamline, simplify, and automate the process of booking railway tickets online in India. In the modern transportation sector, passengers require rapid, reliable, and secure platforms to organize their journeys. Traditional manual booking structures or aging legacy systems often suffer from long response latencies, data inconsistencies, and poor user experience.</a:t>
            </a:r>
          </a:p>
          <a:p>
            <a:pPr algn="just">
              <a:spcBef>
                <a:spcPts val="800"/>
              </a:spcBef>
            </a:pPr>
            <a:r>
              <a:rPr sz="1200">
                <a:latin typeface="Times New Roman"/>
              </a:rPr>
              <a:t>The primary objective of this project is to replace manual booking procedures with a centralized, user-friendly, and highly responsive online platform. Built on a robust relational database backend (SQLite) and powered by Node.js/Express APIs, the Elite Rail application facilitates seamless data flows between passengers and train operators. It efficiently manages complex relations involving users, train details, seat allocation maps, real-time ticket availability, and booking transactions.</a:t>
            </a:r>
          </a:p>
          <a:p>
            <a:pPr algn="just">
              <a:spcBef>
                <a:spcPts val="800"/>
              </a:spcBef>
            </a:pPr>
            <a:r>
              <a:rPr sz="1200">
                <a:latin typeface="Times New Roman"/>
              </a:rPr>
              <a:t>Ultimately, this project demonstrates the practical application of core Database Management System (DBMS) concepts—such as Entity-Relationship modeling, normalization, database constraints, transaction management, views, and database triggers—within a production-grade modern full-stack web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875995"/>
            <a:ext cx="5255971" cy="7772400"/>
          </a:xfrm>
          <a:prstGeom prst="rect">
            <a:avLst/>
          </a:prstGeom>
          <a:noFill/>
        </p:spPr>
        <p:txBody>
          <a:bodyPr wrap="square">
            <a:spAutoFit/>
          </a:bodyPr>
          <a:lstStyle/>
          <a:p>
            <a:pPr>
              <a:spcBef>
                <a:spcPts val="100"/>
              </a:spcBef>
            </a:pPr>
            <a:r>
              <a:rPr sz="1400" b="1">
                <a:latin typeface="Times New Roman"/>
              </a:rPr>
              <a:t>1.2 PROBLEM STATEMENT</a:t>
            </a:r>
          </a:p>
          <a:p>
            <a:pPr>
              <a:spcBef>
                <a:spcPts val="1200"/>
              </a:spcBef>
            </a:pPr>
            <a:r>
              <a:rPr sz="1200" b="1">
                <a:latin typeface="Times New Roman"/>
              </a:rPr>
              <a:t>Traditional railway booking structures face significant challenges, including:</a:t>
            </a:r>
          </a:p>
          <a:p>
            <a:pPr>
              <a:spcBef>
                <a:spcPts val="600"/>
              </a:spcBef>
            </a:pPr>
            <a:r>
              <a:rPr sz="1200">
                <a:latin typeface="Times New Roman"/>
              </a:rPr>
              <a:t>→ Long waiting queues and manual form-filling processes which are prone to human error.</a:t>
            </a:r>
          </a:p>
          <a:p>
            <a:pPr>
              <a:spcBef>
                <a:spcPts val="600"/>
              </a:spcBef>
            </a:pPr>
            <a:r>
              <a:rPr sz="1200">
                <a:latin typeface="Times New Roman"/>
              </a:rPr>
              <a:t>→ Data redundancy and inconsistencies arising from poorly structured relational schemas.</a:t>
            </a:r>
          </a:p>
          <a:p>
            <a:pPr>
              <a:spcBef>
                <a:spcPts val="600"/>
              </a:spcBef>
            </a:pPr>
            <a:r>
              <a:rPr sz="1200">
                <a:latin typeface="Times New Roman"/>
              </a:rPr>
              <a:t>→ High database response latency and inefficient retrieval of real-time seat availability.</a:t>
            </a:r>
          </a:p>
          <a:p>
            <a:pPr>
              <a:spcBef>
                <a:spcPts val="600"/>
              </a:spcBef>
            </a:pPr>
            <a:r>
              <a:rPr sz="1200">
                <a:latin typeface="Times New Roman"/>
              </a:rPr>
              <a:t>→ Overbooking or double-booking of seats due to a lack of database-level concurrency and validation controls.</a:t>
            </a:r>
          </a:p>
          <a:p>
            <a:pPr>
              <a:spcBef>
                <a:spcPts val="600"/>
              </a:spcBef>
            </a:pPr>
            <a:r>
              <a:rPr sz="1200">
                <a:latin typeface="Times New Roman"/>
              </a:rPr>
              <a:t>→ Disconnected frontend interfaces and backend databases, making real-time updates extremely difficult.</a:t>
            </a:r>
          </a:p>
          <a:p>
            <a:pPr>
              <a:spcBef>
                <a:spcPts val="600"/>
              </a:spcBef>
            </a:pPr>
            <a:r>
              <a:rPr sz="1200">
                <a:latin typeface="Times New Roman"/>
              </a:rPr>
              <a:t>→ Inadequate administrative controls to easily schedule, add, modify, or delete trains dynamically.</a:t>
            </a:r>
          </a:p>
          <a:p>
            <a:pPr algn="just">
              <a:spcBef>
                <a:spcPts val="1000"/>
              </a:spcBef>
            </a:pPr>
            <a:r>
              <a:rPr sz="1200">
                <a:latin typeface="Times New Roman"/>
              </a:rPr>
              <a:t>Therefore, a modernized, secure, and centralized web-based railway booking database application is required to resolve these operational bottlenecks and deliver a premium experience to both passengers and administrators.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3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875995"/>
            <a:ext cx="5255971" cy="7772400"/>
          </a:xfrm>
          <a:prstGeom prst="rect">
            <a:avLst/>
          </a:prstGeom>
          <a:noFill/>
        </p:spPr>
        <p:txBody>
          <a:bodyPr wrap="square">
            <a:spAutoFit/>
          </a:bodyPr>
          <a:lstStyle/>
          <a:p>
            <a:pPr>
              <a:spcBef>
                <a:spcPts val="100"/>
              </a:spcBef>
            </a:pPr>
            <a:r>
              <a:rPr sz="1400" b="1">
                <a:latin typeface="Times New Roman"/>
              </a:rPr>
              <a:t>1.3 OBJECTIVES OF THE PROJECT</a:t>
            </a:r>
          </a:p>
          <a:p>
            <a:pPr>
              <a:spcBef>
                <a:spcPts val="600"/>
              </a:spcBef>
            </a:pPr>
            <a:r>
              <a:rPr sz="1200">
                <a:latin typeface="Times New Roman"/>
              </a:rPr>
              <a:t>→ To design and implement a robust relational database schema using SQLite to manage passenger details, trains, schedules, and ticket bookings.</a:t>
            </a:r>
          </a:p>
          <a:p>
            <a:pPr>
              <a:spcBef>
                <a:spcPts val="600"/>
              </a:spcBef>
            </a:pPr>
            <a:r>
              <a:rPr sz="1200">
                <a:latin typeface="Times New Roman"/>
              </a:rPr>
              <a:t>→ To enforce strict data integrity and referential constraints across tables using primary keys, foreign keys, and unique checks.</a:t>
            </a:r>
          </a:p>
          <a:p>
            <a:pPr>
              <a:spcBef>
                <a:spcPts val="600"/>
              </a:spcBef>
            </a:pPr>
            <a:r>
              <a:rPr sz="1200">
                <a:latin typeface="Times New Roman"/>
              </a:rPr>
              <a:t>→ To eliminate data redundancy and anomaly potentials through rigorous schema normalization up to BCNF.</a:t>
            </a:r>
          </a:p>
          <a:p>
            <a:pPr>
              <a:spcBef>
                <a:spcPts val="600"/>
              </a:spcBef>
            </a:pPr>
            <a:r>
              <a:rPr sz="1200">
                <a:latin typeface="Times New Roman"/>
              </a:rPr>
              <a:t>→ To deploy SQL database triggers to prevent critical errors like double-booking and automate log archiving.</a:t>
            </a:r>
          </a:p>
          <a:p>
            <a:pPr>
              <a:spcBef>
                <a:spcPts val="600"/>
              </a:spcBef>
            </a:pPr>
            <a:r>
              <a:rPr sz="1200">
                <a:latin typeface="Times New Roman"/>
              </a:rPr>
              <a:t>→ To build high-performance backend RESTful APIs using Node.js and Express to interact with the database.</a:t>
            </a:r>
          </a:p>
          <a:p>
            <a:pPr>
              <a:spcBef>
                <a:spcPts val="600"/>
              </a:spcBef>
            </a:pPr>
            <a:r>
              <a:rPr sz="1200">
                <a:latin typeface="Times New Roman"/>
              </a:rPr>
              <a:t>→ To develop an interactive and modern glassmorphic web dashboard in React.js for seamless booking.</a:t>
            </a:r>
          </a:p>
          <a:p>
            <a:pPr>
              <a:spcBef>
                <a:spcPts val="1400"/>
              </a:spcBef>
            </a:pPr>
            <a:r>
              <a:rPr sz="1400" b="1">
                <a:latin typeface="Times New Roman"/>
              </a:rPr>
              <a:t>1.4 SCOPE OF THE PROJECT</a:t>
            </a:r>
          </a:p>
          <a:p>
            <a:pPr>
              <a:spcBef>
                <a:spcPts val="500"/>
              </a:spcBef>
            </a:pPr>
            <a:r>
              <a:rPr sz="1200">
                <a:latin typeface="Times New Roman"/>
              </a:rPr>
              <a:t>→ Secure login, register, and profile operations with dynamic session tracking.</a:t>
            </a:r>
          </a:p>
          <a:p>
            <a:pPr>
              <a:spcBef>
                <a:spcPts val="500"/>
              </a:spcBef>
            </a:pPr>
            <a:r>
              <a:rPr sz="1200">
                <a:latin typeface="Times New Roman"/>
              </a:rPr>
              <a:t>→ Real-time train search filtered dynamically by source city, destination, and booking date.</a:t>
            </a:r>
          </a:p>
          <a:p>
            <a:pPr>
              <a:spcBef>
                <a:spcPts val="500"/>
              </a:spcBef>
            </a:pPr>
            <a:r>
              <a:rPr sz="1200">
                <a:latin typeface="Times New Roman"/>
              </a:rPr>
              <a:t>→ Interactive and visual seat layout map indicating booked, selected, and available seats.</a:t>
            </a:r>
          </a:p>
          <a:p>
            <a:pPr>
              <a:spcBef>
                <a:spcPts val="500"/>
              </a:spcBef>
            </a:pPr>
            <a:r>
              <a:rPr sz="1200">
                <a:latin typeface="Times New Roman"/>
              </a:rPr>
              <a:t>→ Immediate ticket booking confirmation with PDF e-ticket downloads and journey history logs.</a:t>
            </a:r>
          </a:p>
          <a:p>
            <a:pPr>
              <a:spcBef>
                <a:spcPts val="500"/>
              </a:spcBef>
            </a:pPr>
            <a:r>
              <a:rPr sz="1200">
                <a:latin typeface="Times New Roman"/>
              </a:rPr>
              <a:t>→ Dedicated administrative control panels to add, monitor, and remove trains dynamically.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4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875995"/>
            <a:ext cx="5255971" cy="7772400"/>
          </a:xfrm>
          <a:prstGeom prst="rect">
            <a:avLst/>
          </a:prstGeom>
          <a:noFill/>
        </p:spPr>
        <p:txBody>
          <a:bodyPr wrap="square">
            <a:spAutoFit/>
          </a:bodyPr>
          <a:lstStyle/>
          <a:p>
            <a:pPr>
              <a:spcBef>
                <a:spcPts val="100"/>
              </a:spcBef>
            </a:pPr>
            <a:r>
              <a:rPr sz="1400" b="1">
                <a:latin typeface="Times New Roman"/>
              </a:rPr>
              <a:t>1.4 PROPOSED SOLUTIONS AND ADVANTAGES</a:t>
            </a:r>
          </a:p>
          <a:p>
            <a:pPr>
              <a:spcBef>
                <a:spcPts val="1000"/>
              </a:spcBef>
            </a:pPr>
            <a:r>
              <a:rPr sz="1200" b="1">
                <a:latin typeface="Times New Roman"/>
              </a:rPr>
              <a:t>Digital Booking Platform:</a:t>
            </a:r>
          </a:p>
          <a:p>
            <a:pPr algn="just">
              <a:spcBef>
                <a:spcPts val="300"/>
              </a:spcBef>
            </a:pPr>
            <a:r>
              <a:rPr sz="1200">
                <a:latin typeface="Times New Roman"/>
              </a:rPr>
              <a:t>Replaces manual forms and queues with an interactive full-stack web application. Passenger data and bookings are processed and saved instantly into the database, reducing paperwork and administrative friction.</a:t>
            </a:r>
          </a:p>
          <a:p>
            <a:pPr>
              <a:spcBef>
                <a:spcPts val="1000"/>
              </a:spcBef>
            </a:pPr>
            <a:r>
              <a:rPr sz="1200" b="1">
                <a:latin typeface="Times New Roman"/>
              </a:rPr>
              <a:t>Centralized Database Management:</a:t>
            </a:r>
          </a:p>
          <a:p>
            <a:pPr algn="just">
              <a:spcBef>
                <a:spcPts val="300"/>
              </a:spcBef>
            </a:pPr>
            <a:r>
              <a:rPr sz="1200">
                <a:latin typeface="Times New Roman"/>
              </a:rPr>
              <a:t>A highly structured relational database stores all system records. Enforcing strict primary and foreign key constraints eliminates orphaned booking records and maintains authentic data synchronization.</a:t>
            </a:r>
          </a:p>
          <a:p>
            <a:pPr>
              <a:spcBef>
                <a:spcPts val="1000"/>
              </a:spcBef>
            </a:pPr>
            <a:r>
              <a:rPr sz="1200" b="1">
                <a:latin typeface="Times New Roman"/>
              </a:rPr>
              <a:t>Double-Booking Prevention:</a:t>
            </a:r>
          </a:p>
          <a:p>
            <a:pPr algn="just">
              <a:spcBef>
                <a:spcPts val="300"/>
              </a:spcBef>
            </a:pPr>
            <a:r>
              <a:rPr sz="1200">
                <a:latin typeface="Times New Roman"/>
              </a:rPr>
              <a:t>Implementing a custom SQLite BEFORE INSERT trigger prevents concurrent bookings of the exact same seat on the same train on the same date, guaranteeing absolute transaction consistency.</a:t>
            </a:r>
          </a:p>
          <a:p>
            <a:pPr>
              <a:spcBef>
                <a:spcPts val="1000"/>
              </a:spcBef>
            </a:pPr>
            <a:r>
              <a:rPr sz="1200" b="1">
                <a:latin typeface="Times New Roman"/>
              </a:rPr>
              <a:t>Premium Glassmorphic Design:</a:t>
            </a:r>
          </a:p>
          <a:p>
            <a:pPr algn="just">
              <a:spcBef>
                <a:spcPts val="300"/>
              </a:spcBef>
            </a:pPr>
            <a:r>
              <a:rPr sz="1200">
                <a:latin typeface="Times New Roman"/>
              </a:rPr>
              <a:t>Utilizes a highly refined frontend interface with dynamic dark-themed glassmorphism, responsive navigation, micro-animations, and interactive seat selections.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5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8758" y="877824"/>
            <a:ext cx="1371600" cy="237744"/>
          </a:xfrm>
          <a:prstGeom prst="rect">
            <a:avLst/>
          </a:prstGeom>
          <a:noFill/>
        </p:spPr>
        <p:txBody>
          <a:bodyPr wrap="square">
            <a:spAutoFit/>
          </a:bodyPr>
          <a:lstStyle/>
          <a:p>
            <a:pPr>
              <a:spcBef>
                <a:spcPts val="100"/>
              </a:spcBef>
            </a:pPr>
            <a:r>
              <a:rPr sz="1400" b="1">
                <a:latin typeface="Times New Roman"/>
              </a:rPr>
              <a:t>CHAPTER 2</a:t>
            </a:r>
          </a:p>
        </p:txBody>
      </p:sp>
      <p:sp>
        <p:nvSpPr>
          <p:cNvPr id="9" name="TextBox 8"/>
          <p:cNvSpPr txBox="1"/>
          <p:nvPr/>
        </p:nvSpPr>
        <p:spPr>
          <a:xfrm>
            <a:off x="1032357" y="1156716"/>
            <a:ext cx="3657600" cy="854049"/>
          </a:xfrm>
          <a:prstGeom prst="rect">
            <a:avLst/>
          </a:prstGeom>
          <a:noFill/>
        </p:spPr>
        <p:txBody>
          <a:bodyPr wrap="square">
            <a:spAutoFit/>
          </a:bodyPr>
          <a:lstStyle/>
          <a:p>
            <a:pPr>
              <a:spcBef>
                <a:spcPts val="100"/>
              </a:spcBef>
            </a:pPr>
            <a:r>
              <a:rPr sz="1400" b="1">
                <a:latin typeface="Times New Roman"/>
              </a:rPr>
              <a:t>SYSTEM DESIGN</a:t>
            </a:r>
          </a:p>
          <a:p>
            <a:r>
              <a:rPr sz="1400" b="1">
                <a:latin typeface="Times New Roman"/>
              </a:rPr>
              <a:t>2.1 SCHEMA DIAGRAM</a:t>
            </a:r>
          </a:p>
        </p:txBody>
      </p:sp>
      <p:pic>
        <p:nvPicPr>
          <p:cNvPr id="10" name="Picture 9" descr="schema_diagram.png"/>
          <p:cNvPicPr>
            <a:picLocks noChangeAspect="1"/>
          </p:cNvPicPr>
          <p:nvPr/>
        </p:nvPicPr>
        <p:blipFill>
          <a:blip r:embed="rId2"/>
          <a:stretch>
            <a:fillRect/>
          </a:stretch>
        </p:blipFill>
        <p:spPr>
          <a:xfrm>
            <a:off x="1140256" y="2286000"/>
            <a:ext cx="5577840" cy="4297680"/>
          </a:xfrm>
          <a:prstGeom prst="rect">
            <a:avLst/>
          </a:prstGeom>
        </p:spPr>
      </p:pic>
      <p:sp>
        <p:nvSpPr>
          <p:cNvPr id="11" name="TextBox 10"/>
          <p:cNvSpPr txBox="1"/>
          <p:nvPr/>
        </p:nvSpPr>
        <p:spPr>
          <a:xfrm>
            <a:off x="2743200" y="6766560"/>
            <a:ext cx="2286000" cy="201168"/>
          </a:xfrm>
          <a:prstGeom prst="rect">
            <a:avLst/>
          </a:prstGeom>
          <a:noFill/>
        </p:spPr>
        <p:txBody>
          <a:bodyPr wrap="square">
            <a:spAutoFit/>
          </a:bodyPr>
          <a:lstStyle/>
          <a:p>
            <a:r>
              <a:rPr sz="1100">
                <a:latin typeface="Times New Roman"/>
              </a:rPr>
              <a:t>Fig.2.1 Schema Diagram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6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1063447"/>
            <a:ext cx="2286000" cy="237744"/>
          </a:xfrm>
          <a:prstGeom prst="rect">
            <a:avLst/>
          </a:prstGeom>
          <a:noFill/>
        </p:spPr>
        <p:txBody>
          <a:bodyPr wrap="square">
            <a:spAutoFit/>
          </a:bodyPr>
          <a:lstStyle/>
          <a:p>
            <a:pPr>
              <a:spcBef>
                <a:spcPts val="100"/>
              </a:spcBef>
            </a:pPr>
            <a:r>
              <a:rPr sz="1400" b="1">
                <a:latin typeface="Times New Roman"/>
              </a:rPr>
              <a:t>2.2 ER DIAGRAM</a:t>
            </a:r>
          </a:p>
        </p:txBody>
      </p:sp>
      <p:pic>
        <p:nvPicPr>
          <p:cNvPr id="9" name="Picture 8" descr="er_diagram.png"/>
          <p:cNvPicPr>
            <a:picLocks noChangeAspect="1"/>
          </p:cNvPicPr>
          <p:nvPr/>
        </p:nvPicPr>
        <p:blipFill>
          <a:blip r:embed="rId2"/>
          <a:stretch>
            <a:fillRect/>
          </a:stretch>
        </p:blipFill>
        <p:spPr>
          <a:xfrm>
            <a:off x="1140256" y="1463040"/>
            <a:ext cx="5486400" cy="6675120"/>
          </a:xfrm>
          <a:prstGeom prst="rect">
            <a:avLst/>
          </a:prstGeom>
        </p:spPr>
      </p:pic>
      <p:sp>
        <p:nvSpPr>
          <p:cNvPr id="10" name="TextBox 9"/>
          <p:cNvSpPr txBox="1"/>
          <p:nvPr/>
        </p:nvSpPr>
        <p:spPr>
          <a:xfrm>
            <a:off x="2926080" y="8321040"/>
            <a:ext cx="2286000" cy="201168"/>
          </a:xfrm>
          <a:prstGeom prst="rect">
            <a:avLst/>
          </a:prstGeom>
          <a:noFill/>
        </p:spPr>
        <p:txBody>
          <a:bodyPr wrap="square">
            <a:spAutoFit/>
          </a:bodyPr>
          <a:lstStyle/>
          <a:p>
            <a:r>
              <a:rPr sz="1100">
                <a:latin typeface="Times New Roman"/>
              </a:rPr>
              <a:t>Fig.2.2 ER Diagram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7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2286000" cy="274320"/>
          </a:xfrm>
          <a:prstGeom prst="rect">
            <a:avLst/>
          </a:prstGeom>
          <a:noFill/>
        </p:spPr>
        <p:txBody>
          <a:bodyPr wrap="square">
            <a:spAutoFit/>
          </a:bodyPr>
          <a:lstStyle/>
          <a:p>
            <a:pPr>
              <a:spcBef>
                <a:spcPts val="100"/>
              </a:spcBef>
            </a:pPr>
            <a:r>
              <a:rPr sz="1400" b="1">
                <a:latin typeface="Times New Roman"/>
              </a:rPr>
              <a:t>2.3 NORMALIZATION</a:t>
            </a:r>
          </a:p>
        </p:txBody>
      </p:sp>
      <p:sp>
        <p:nvSpPr>
          <p:cNvPr id="9" name="TextBox 8"/>
          <p:cNvSpPr txBox="1"/>
          <p:nvPr/>
        </p:nvSpPr>
        <p:spPr>
          <a:xfrm>
            <a:off x="1032357" y="1234440"/>
            <a:ext cx="5255971" cy="7589520"/>
          </a:xfrm>
          <a:prstGeom prst="rect">
            <a:avLst/>
          </a:prstGeom>
          <a:noFill/>
        </p:spPr>
        <p:txBody>
          <a:bodyPr wrap="square">
            <a:spAutoFit/>
          </a:bodyPr>
          <a:lstStyle/>
          <a:p>
            <a:pPr>
              <a:spcBef>
                <a:spcPts val="800"/>
              </a:spcBef>
            </a:pPr>
            <a:r>
              <a:rPr sz="1200" b="1">
                <a:latin typeface="Times New Roman"/>
              </a:rPr>
              <a:t>First Normal Form (1NF):</a:t>
            </a:r>
          </a:p>
          <a:p>
            <a:pPr algn="just">
              <a:spcBef>
                <a:spcPts val="200"/>
              </a:spcBef>
            </a:pPr>
            <a:r>
              <a:rPr sz="1200">
                <a:latin typeface="Times New Roman"/>
              </a:rPr>
              <a:t>All attributes in the Elite Rail database contain atomic (indivisible) values. Each column stores only one value per row. For example, the bookings table stores one seat_number per booking record rather than a comma-separated list of seats. All tables have a primary key defined (id with AUTOINCREMENT) to uniquely identify records.</a:t>
            </a:r>
          </a:p>
          <a:p>
            <a:pPr>
              <a:spcBef>
                <a:spcPts val="800"/>
              </a:spcBef>
            </a:pPr>
            <a:r>
              <a:rPr sz="1200" b="1">
                <a:latin typeface="Times New Roman"/>
              </a:rPr>
              <a:t>Second Normal Form (2NF):</a:t>
            </a:r>
          </a:p>
          <a:p>
            <a:pPr algn="just">
              <a:spcBef>
                <a:spcPts val="200"/>
              </a:spcBef>
            </a:pPr>
            <a:r>
              <a:rPr sz="1200">
                <a:latin typeface="Times New Roman"/>
              </a:rPr>
              <a:t>All tables satisfy 2NF as every non-key attribute is fully functionally dependent on the primary key. Since all three core tables (users, trains, bookings) utilize a single-column primary key (id), there are no partial dependencies possible. Every non-key attribute in bookings – such as user_id, train_id, seat_number, travel_date – depends entirely on the primary key.</a:t>
            </a:r>
          </a:p>
          <a:p>
            <a:pPr>
              <a:spcBef>
                <a:spcPts val="800"/>
              </a:spcBef>
            </a:pPr>
            <a:r>
              <a:rPr sz="1200" b="1">
                <a:latin typeface="Times New Roman"/>
              </a:rPr>
              <a:t>Third Normal Form (3NF):</a:t>
            </a:r>
          </a:p>
          <a:p>
            <a:pPr algn="just">
              <a:spcBef>
                <a:spcPts val="200"/>
              </a:spcBef>
            </a:pPr>
            <a:r>
              <a:rPr sz="1200">
                <a:latin typeface="Times New Roman"/>
              </a:rPr>
              <a:t>The database satisfies 3NF with no transitive dependencies. In the trains table, departure_time and arrival_time depend only on the train id, not on source or destination. In bookings, the status attribute depends only on the booking id. All transitive dependencies have been eliminated through proper table decomposition and use of foreign keys.</a:t>
            </a:r>
          </a:p>
          <a:p>
            <a:pPr>
              <a:spcBef>
                <a:spcPts val="800"/>
              </a:spcBef>
            </a:pPr>
            <a:r>
              <a:rPr sz="1200" b="1">
                <a:latin typeface="Times New Roman"/>
              </a:rPr>
              <a:t>Boyce-Codd Normal Form (BCNF):</a:t>
            </a:r>
          </a:p>
          <a:p>
            <a:pPr algn="just">
              <a:spcBef>
                <a:spcPts val="200"/>
              </a:spcBef>
            </a:pPr>
            <a:r>
              <a:rPr sz="1200">
                <a:latin typeface="Times New Roman"/>
              </a:rPr>
              <a:t>The database satisfies BCNF – for every non-trivial functional dependency X → Y, X is a superkey. The email column in users has a UNIQUE constraint (candidate key), and train_number in trains is also UNIQUE (candidate key). No anomaly-causing dependencies exist.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8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875995"/>
            <a:ext cx="1371600" cy="237744"/>
          </a:xfrm>
          <a:prstGeom prst="rect">
            <a:avLst/>
          </a:prstGeom>
          <a:noFill/>
        </p:spPr>
        <p:txBody>
          <a:bodyPr wrap="square">
            <a:spAutoFit/>
          </a:bodyPr>
          <a:lstStyle/>
          <a:p>
            <a:pPr>
              <a:spcBef>
                <a:spcPts val="100"/>
              </a:spcBef>
            </a:pPr>
            <a:r>
              <a:rPr sz="1400" b="1">
                <a:latin typeface="Times New Roman"/>
              </a:rPr>
              <a:t>CHAPTER 3</a:t>
            </a:r>
          </a:p>
        </p:txBody>
      </p:sp>
      <p:sp>
        <p:nvSpPr>
          <p:cNvPr id="9" name="TextBox 8"/>
          <p:cNvSpPr txBox="1"/>
          <p:nvPr/>
        </p:nvSpPr>
        <p:spPr>
          <a:xfrm>
            <a:off x="1032357" y="1071676"/>
            <a:ext cx="5255971" cy="7772400"/>
          </a:xfrm>
          <a:prstGeom prst="rect">
            <a:avLst/>
          </a:prstGeom>
          <a:noFill/>
        </p:spPr>
        <p:txBody>
          <a:bodyPr wrap="square">
            <a:spAutoFit/>
          </a:bodyPr>
          <a:lstStyle/>
          <a:p>
            <a:pPr>
              <a:spcBef>
                <a:spcPts val="800"/>
              </a:spcBef>
            </a:pPr>
            <a:r>
              <a:rPr sz="1400" b="1">
                <a:latin typeface="Times New Roman"/>
              </a:rPr>
              <a:t>IMPLEMENTATION</a:t>
            </a:r>
          </a:p>
          <a:p>
            <a:pPr>
              <a:spcBef>
                <a:spcPts val="800"/>
              </a:spcBef>
            </a:pPr>
            <a:r>
              <a:rPr sz="1400" b="1">
                <a:latin typeface="Times New Roman"/>
              </a:rPr>
              <a:t>3.1 TECHNOLOGY STACK</a:t>
            </a:r>
          </a:p>
          <a:p>
            <a:pPr>
              <a:spcBef>
                <a:spcPts val="800"/>
              </a:spcBef>
            </a:pPr>
            <a:r>
              <a:rPr sz="1200" b="1">
                <a:latin typeface="Times New Roman"/>
              </a:rPr>
              <a:t>Frontend Technologies:</a:t>
            </a:r>
          </a:p>
          <a:p>
            <a:pPr>
              <a:spcBef>
                <a:spcPts val="300"/>
              </a:spcBef>
            </a:pPr>
            <a:r>
              <a:rPr sz="1200">
                <a:latin typeface="Times New Roman"/>
              </a:rPr>
              <a:t>→ React.js (Vite build tool) – Component-based UI development</a:t>
            </a:r>
          </a:p>
          <a:p>
            <a:pPr>
              <a:spcBef>
                <a:spcPts val="300"/>
              </a:spcBef>
            </a:pPr>
            <a:r>
              <a:rPr sz="1200">
                <a:latin typeface="Times New Roman"/>
              </a:rPr>
              <a:t>→ Vanilla CSS with custom properties – Glassmorphic dark theme design</a:t>
            </a:r>
          </a:p>
          <a:p>
            <a:pPr>
              <a:spcBef>
                <a:spcPts val="300"/>
              </a:spcBef>
            </a:pPr>
            <a:r>
              <a:rPr sz="1200">
                <a:latin typeface="Times New Roman"/>
              </a:rPr>
              <a:t>→ HTML5 + JavaScript (ES6+) – Core web technologies</a:t>
            </a:r>
          </a:p>
          <a:p>
            <a:pPr>
              <a:spcBef>
                <a:spcPts val="300"/>
              </a:spcBef>
            </a:pPr>
            <a:r>
              <a:rPr sz="1200">
                <a:latin typeface="Times New Roman"/>
              </a:rPr>
              <a:t>→ Google Fonts (Inter, Outfit) – Modern typography</a:t>
            </a:r>
          </a:p>
          <a:p>
            <a:pPr>
              <a:spcBef>
                <a:spcPts val="800"/>
              </a:spcBef>
            </a:pPr>
            <a:r>
              <a:rPr sz="1200" b="1">
                <a:latin typeface="Times New Roman"/>
              </a:rPr>
              <a:t>Backend Technologies:</a:t>
            </a:r>
          </a:p>
          <a:p>
            <a:pPr>
              <a:spcBef>
                <a:spcPts val="300"/>
              </a:spcBef>
            </a:pPr>
            <a:r>
              <a:rPr sz="1200">
                <a:latin typeface="Times New Roman"/>
              </a:rPr>
              <a:t>→ Node.js – JavaScript runtime environment</a:t>
            </a:r>
          </a:p>
          <a:p>
            <a:pPr>
              <a:spcBef>
                <a:spcPts val="300"/>
              </a:spcBef>
            </a:pPr>
            <a:r>
              <a:rPr sz="1200">
                <a:latin typeface="Times New Roman"/>
              </a:rPr>
              <a:t>→ Express.js – RESTful API framework</a:t>
            </a:r>
          </a:p>
          <a:p>
            <a:pPr>
              <a:spcBef>
                <a:spcPts val="300"/>
              </a:spcBef>
            </a:pPr>
            <a:r>
              <a:rPr sz="1200">
                <a:latin typeface="Times New Roman"/>
              </a:rPr>
              <a:t>→ SQLite3 – Lightweight relational database (via better-sqlite3)</a:t>
            </a:r>
          </a:p>
          <a:p>
            <a:pPr>
              <a:spcBef>
                <a:spcPts val="300"/>
              </a:spcBef>
            </a:pPr>
            <a:r>
              <a:rPr sz="1200">
                <a:latin typeface="Times New Roman"/>
              </a:rPr>
              <a:t>→ bcrypt – Password hashing for security</a:t>
            </a:r>
          </a:p>
          <a:p>
            <a:pPr>
              <a:spcBef>
                <a:spcPts val="800"/>
              </a:spcBef>
            </a:pPr>
            <a:r>
              <a:rPr sz="1200" b="1">
                <a:latin typeface="Times New Roman"/>
              </a:rPr>
              <a:t>Platform for Implementation:</a:t>
            </a:r>
          </a:p>
          <a:p>
            <a:pPr>
              <a:spcBef>
                <a:spcPts val="300"/>
              </a:spcBef>
            </a:pPr>
            <a:r>
              <a:rPr sz="1200">
                <a:latin typeface="Times New Roman"/>
              </a:rPr>
              <a:t>→ VS Code – Primary code editor</a:t>
            </a:r>
          </a:p>
          <a:p>
            <a:pPr>
              <a:spcBef>
                <a:spcPts val="300"/>
              </a:spcBef>
            </a:pPr>
            <a:r>
              <a:rPr sz="1200">
                <a:latin typeface="Times New Roman"/>
              </a:rPr>
              <a:t>→ DB Browser for SQLite – GUI for database inspection and SQL testing</a:t>
            </a:r>
          </a:p>
          <a:p>
            <a:pPr>
              <a:spcBef>
                <a:spcPts val="300"/>
              </a:spcBef>
            </a:pPr>
            <a:r>
              <a:rPr sz="1200">
                <a:latin typeface="Times New Roman"/>
              </a:rPr>
              <a:t>→ XAMPP/Node Local Server – Local deployment environment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9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74320"/>
          </a:xfrm>
          <a:prstGeom prst="rect">
            <a:avLst/>
          </a:prstGeom>
          <a:noFill/>
        </p:spPr>
        <p:txBody>
          <a:bodyPr wrap="square">
            <a:spAutoFit/>
          </a:bodyPr>
          <a:lstStyle/>
          <a:p>
            <a:pPr>
              <a:spcBef>
                <a:spcPts val="100"/>
              </a:spcBef>
            </a:pPr>
            <a:r>
              <a:rPr sz="1400" b="1">
                <a:latin typeface="Times New Roman"/>
              </a:rPr>
              <a:t>3.2 DATABASE IMPLEMENTATION</a:t>
            </a:r>
          </a:p>
        </p:txBody>
      </p:sp>
      <p:sp>
        <p:nvSpPr>
          <p:cNvPr id="9" name="TextBox 8"/>
          <p:cNvSpPr txBox="1"/>
          <p:nvPr/>
        </p:nvSpPr>
        <p:spPr>
          <a:xfrm>
            <a:off x="1032357" y="1234440"/>
            <a:ext cx="5747918" cy="228600"/>
          </a:xfrm>
          <a:prstGeom prst="rect">
            <a:avLst/>
          </a:prstGeom>
          <a:noFill/>
        </p:spPr>
        <p:txBody>
          <a:bodyPr wrap="square">
            <a:spAutoFit/>
          </a:bodyPr>
          <a:lstStyle/>
          <a:p>
            <a:pPr>
              <a:spcBef>
                <a:spcPts val="100"/>
              </a:spcBef>
            </a:pPr>
            <a:r>
              <a:rPr sz="1200" b="1">
                <a:solidFill>
                  <a:srgbClr val="1F477B"/>
                </a:solidFill>
                <a:latin typeface="Times New Roman"/>
              </a:rPr>
              <a:t>DATA DEFINITION LANGUAGE (DDL) – CREATE TABLE USERS &amp; TRAINS</a:t>
            </a:r>
          </a:p>
        </p:txBody>
      </p:sp>
      <p:sp>
        <p:nvSpPr>
          <p:cNvPr id="10" name="TextBox 9"/>
          <p:cNvSpPr txBox="1"/>
          <p:nvPr/>
        </p:nvSpPr>
        <p:spPr>
          <a:xfrm>
            <a:off x="1032357" y="150876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DDL CREATE TABLE Statements (Part 1)</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-- 1. Create Users Table to store passenger and admin profiles</a:t>
            </a:r>
          </a:p>
          <a:p>
            <a:pPr>
              <a:spcBef>
                <a:spcPts val="50"/>
              </a:spcBef>
              <a:spcAft>
                <a:spcPts val="0"/>
              </a:spcAft>
            </a:pPr>
            <a:r>
              <a:rPr sz="950">
                <a:solidFill>
                  <a:srgbClr val="0D2B52"/>
                </a:solidFill>
                <a:latin typeface="Times New Roman"/>
              </a:rPr>
              <a:t>CREATE TABLE IF NOT EXISTS users (</a:t>
            </a:r>
          </a:p>
          <a:p>
            <a:pPr>
              <a:spcBef>
                <a:spcPts val="50"/>
              </a:spcBef>
              <a:spcAft>
                <a:spcPts val="0"/>
              </a:spcAft>
            </a:pPr>
            <a:r>
              <a:rPr sz="950">
                <a:solidFill>
                  <a:srgbClr val="0D2B52"/>
                </a:solidFill>
                <a:latin typeface="Times New Roman"/>
              </a:rPr>
              <a:t>    id          INTEGER PRIMARY KEY AUTOINCREMENT,</a:t>
            </a:r>
          </a:p>
          <a:p>
            <a:pPr>
              <a:spcBef>
                <a:spcPts val="50"/>
              </a:spcBef>
              <a:spcAft>
                <a:spcPts val="0"/>
              </a:spcAft>
            </a:pPr>
            <a:r>
              <a:rPr sz="950">
                <a:solidFill>
                  <a:srgbClr val="0D2B52"/>
                </a:solidFill>
                <a:latin typeface="Times New Roman"/>
              </a:rPr>
              <a:t>    name        TEXT NOT NULL,</a:t>
            </a:r>
          </a:p>
          <a:p>
            <a:pPr>
              <a:spcBef>
                <a:spcPts val="50"/>
              </a:spcBef>
              <a:spcAft>
                <a:spcPts val="0"/>
              </a:spcAft>
            </a:pPr>
            <a:r>
              <a:rPr sz="950">
                <a:solidFill>
                  <a:srgbClr val="0D2B52"/>
                </a:solidFill>
                <a:latin typeface="Times New Roman"/>
              </a:rPr>
              <a:t>    email       TEXT UNIQUE NOT NULL,</a:t>
            </a:r>
          </a:p>
          <a:p>
            <a:pPr>
              <a:spcBef>
                <a:spcPts val="50"/>
              </a:spcBef>
              <a:spcAft>
                <a:spcPts val="0"/>
              </a:spcAft>
            </a:pPr>
            <a:r>
              <a:rPr sz="950">
                <a:solidFill>
                  <a:srgbClr val="0D2B52"/>
                </a:solidFill>
                <a:latin typeface="Times New Roman"/>
              </a:rPr>
              <a:t>    password    TEXT NOT NULL,</a:t>
            </a:r>
          </a:p>
          <a:p>
            <a:pPr>
              <a:spcBef>
                <a:spcPts val="50"/>
              </a:spcBef>
              <a:spcAft>
                <a:spcPts val="0"/>
              </a:spcAft>
            </a:pPr>
            <a:r>
              <a:rPr sz="950">
                <a:solidFill>
                  <a:srgbClr val="0D2B52"/>
                </a:solidFill>
                <a:latin typeface="Times New Roman"/>
              </a:rPr>
              <a:t>    role        TEXT DEFAULT 'user'</a:t>
            </a:r>
          </a:p>
          <a:p>
            <a:pPr>
              <a:spcBef>
                <a:spcPts val="50"/>
              </a:spcBef>
              <a:spcAft>
                <a:spcPts val="0"/>
              </a:spcAft>
            </a:pPr>
            <a:r>
              <a:rPr sz="950">
                <a:solidFill>
                  <a:srgbClr val="0D2B52"/>
                </a:solidFill>
                <a:latin typeface="Times New Roman"/>
              </a:rPr>
              <a:t>);</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-- 2. Create Trains Table to maintain schedule and base prices</a:t>
            </a:r>
          </a:p>
          <a:p>
            <a:pPr>
              <a:spcBef>
                <a:spcPts val="50"/>
              </a:spcBef>
              <a:spcAft>
                <a:spcPts val="0"/>
              </a:spcAft>
            </a:pPr>
            <a:r>
              <a:rPr sz="950">
                <a:solidFill>
                  <a:srgbClr val="0D2B52"/>
                </a:solidFill>
                <a:latin typeface="Times New Roman"/>
              </a:rPr>
              <a:t>CREATE TABLE IF NOT EXISTS trains (</a:t>
            </a:r>
          </a:p>
          <a:p>
            <a:pPr>
              <a:spcBef>
                <a:spcPts val="50"/>
              </a:spcBef>
              <a:spcAft>
                <a:spcPts val="0"/>
              </a:spcAft>
            </a:pPr>
            <a:r>
              <a:rPr sz="950">
                <a:solidFill>
                  <a:srgbClr val="0D2B52"/>
                </a:solidFill>
                <a:latin typeface="Times New Roman"/>
              </a:rPr>
              <a:t>    id              INTEGER PRIMARY KEY AUTOINCREMENT,</a:t>
            </a:r>
          </a:p>
          <a:p>
            <a:pPr>
              <a:spcBef>
                <a:spcPts val="50"/>
              </a:spcBef>
              <a:spcAft>
                <a:spcPts val="0"/>
              </a:spcAft>
            </a:pPr>
            <a:r>
              <a:rPr sz="950">
                <a:solidFill>
                  <a:srgbClr val="0D2B52"/>
                </a:solidFill>
                <a:latin typeface="Times New Roman"/>
              </a:rPr>
              <a:t>    train_number    TEXT UNIQUE NOT NULL,</a:t>
            </a:r>
          </a:p>
          <a:p>
            <a:pPr>
              <a:spcBef>
                <a:spcPts val="50"/>
              </a:spcBef>
              <a:spcAft>
                <a:spcPts val="0"/>
              </a:spcAft>
            </a:pPr>
            <a:r>
              <a:rPr sz="950">
                <a:solidFill>
                  <a:srgbClr val="0D2B52"/>
                </a:solidFill>
                <a:latin typeface="Times New Roman"/>
              </a:rPr>
              <a:t>    name            TEXT NOT NULL,</a:t>
            </a:r>
          </a:p>
          <a:p>
            <a:pPr>
              <a:spcBef>
                <a:spcPts val="50"/>
              </a:spcBef>
              <a:spcAft>
                <a:spcPts val="0"/>
              </a:spcAft>
            </a:pPr>
            <a:r>
              <a:rPr sz="950">
                <a:solidFill>
                  <a:srgbClr val="0D2B52"/>
                </a:solidFill>
                <a:latin typeface="Times New Roman"/>
              </a:rPr>
              <a:t>    source          TEXT NOT NULL,</a:t>
            </a:r>
          </a:p>
          <a:p>
            <a:pPr>
              <a:spcBef>
                <a:spcPts val="50"/>
              </a:spcBef>
              <a:spcAft>
                <a:spcPts val="0"/>
              </a:spcAft>
            </a:pPr>
            <a:r>
              <a:rPr sz="950">
                <a:solidFill>
                  <a:srgbClr val="0D2B52"/>
                </a:solidFill>
                <a:latin typeface="Times New Roman"/>
              </a:rPr>
              <a:t>    destination     TEXT NOT NULL,</a:t>
            </a:r>
          </a:p>
          <a:p>
            <a:pPr>
              <a:spcBef>
                <a:spcPts val="50"/>
              </a:spcBef>
              <a:spcAft>
                <a:spcPts val="0"/>
              </a:spcAft>
            </a:pPr>
            <a:r>
              <a:rPr sz="950">
                <a:solidFill>
                  <a:srgbClr val="0D2B52"/>
                </a:solidFill>
                <a:latin typeface="Times New Roman"/>
              </a:rPr>
              <a:t>    departure_time  TEXT NOT NULL,</a:t>
            </a:r>
          </a:p>
          <a:p>
            <a:pPr>
              <a:spcBef>
                <a:spcPts val="50"/>
              </a:spcBef>
              <a:spcAft>
                <a:spcPts val="0"/>
              </a:spcAft>
            </a:pPr>
            <a:r>
              <a:rPr sz="950">
                <a:solidFill>
                  <a:srgbClr val="0D2B52"/>
                </a:solidFill>
                <a:latin typeface="Times New Roman"/>
              </a:rPr>
              <a:t>    arrival_time    TEXT NOT NULL,</a:t>
            </a:r>
          </a:p>
          <a:p>
            <a:pPr>
              <a:spcBef>
                <a:spcPts val="50"/>
              </a:spcBef>
              <a:spcAft>
                <a:spcPts val="0"/>
              </a:spcAft>
            </a:pPr>
            <a:r>
              <a:rPr sz="950">
                <a:solidFill>
                  <a:srgbClr val="0D2B52"/>
                </a:solidFill>
                <a:latin typeface="Times New Roman"/>
              </a:rPr>
              <a:t>    total_seats     INTEGER DEFAULT 60,</a:t>
            </a:r>
          </a:p>
          <a:p>
            <a:pPr>
              <a:spcBef>
                <a:spcPts val="50"/>
              </a:spcBef>
              <a:spcAft>
                <a:spcPts val="0"/>
              </a:spcAft>
            </a:pPr>
            <a:r>
              <a:rPr sz="950">
                <a:solidFill>
                  <a:srgbClr val="0D2B52"/>
                </a:solidFill>
                <a:latin typeface="Times New Roman"/>
              </a:rPr>
              <a:t>    price_base      REAL NOT NULL</a:t>
            </a:r>
          </a:p>
          <a:p>
            <a:pPr>
              <a:spcBef>
                <a:spcPts val="50"/>
              </a:spcBef>
              <a:spcAft>
                <a:spcPts val="0"/>
              </a:spcAft>
            </a:pPr>
            <a:r>
              <a:rPr sz="950">
                <a:solidFill>
                  <a:srgbClr val="0D2B52"/>
                </a:solidFill>
                <a:latin typeface="Times New Roman"/>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10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28600"/>
          </a:xfrm>
          <a:prstGeom prst="rect">
            <a:avLst/>
          </a:prstGeom>
          <a:noFill/>
        </p:spPr>
        <p:txBody>
          <a:bodyPr wrap="square">
            <a:spAutoFit/>
          </a:bodyPr>
          <a:lstStyle/>
          <a:p>
            <a:pPr>
              <a:spcBef>
                <a:spcPts val="100"/>
              </a:spcBef>
            </a:pPr>
            <a:r>
              <a:rPr sz="1200" b="1">
                <a:solidFill>
                  <a:srgbClr val="1F477B"/>
                </a:solidFill>
                <a:latin typeface="Times New Roman"/>
              </a:rPr>
              <a:t>DATA DEFINITION LANGUAGE (DDL) – CREATE TABLE BOOKINGS</a:t>
            </a:r>
          </a:p>
        </p:txBody>
      </p:sp>
      <p:sp>
        <p:nvSpPr>
          <p:cNvPr id="9" name="TextBox 8"/>
          <p:cNvSpPr txBox="1"/>
          <p:nvPr/>
        </p:nvSpPr>
        <p:spPr>
          <a:xfrm>
            <a:off x="1032357" y="123444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DDL CREATE TABLE Statements (Part 2)</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-- 3. Create Bookings Table with Foreign Key Constraints</a:t>
            </a:r>
          </a:p>
          <a:p>
            <a:pPr>
              <a:spcBef>
                <a:spcPts val="50"/>
              </a:spcBef>
              <a:spcAft>
                <a:spcPts val="0"/>
              </a:spcAft>
            </a:pPr>
            <a:r>
              <a:rPr sz="950">
                <a:solidFill>
                  <a:srgbClr val="0D2B52"/>
                </a:solidFill>
                <a:latin typeface="Times New Roman"/>
              </a:rPr>
              <a:t>CREATE TABLE IF NOT EXISTS bookings (</a:t>
            </a:r>
          </a:p>
          <a:p>
            <a:pPr>
              <a:spcBef>
                <a:spcPts val="50"/>
              </a:spcBef>
              <a:spcAft>
                <a:spcPts val="0"/>
              </a:spcAft>
            </a:pPr>
            <a:r>
              <a:rPr sz="950">
                <a:solidFill>
                  <a:srgbClr val="0D2B52"/>
                </a:solidFill>
                <a:latin typeface="Times New Roman"/>
              </a:rPr>
              <a:t>    id              INTEGER PRIMARY KEY AUTOINCREMENT,</a:t>
            </a:r>
          </a:p>
          <a:p>
            <a:pPr>
              <a:spcBef>
                <a:spcPts val="50"/>
              </a:spcBef>
              <a:spcAft>
                <a:spcPts val="0"/>
              </a:spcAft>
            </a:pPr>
            <a:r>
              <a:rPr sz="950">
                <a:solidFill>
                  <a:srgbClr val="0D2B52"/>
                </a:solidFill>
                <a:latin typeface="Times New Roman"/>
              </a:rPr>
              <a:t>    user_id         INTEGER NOT NULL,</a:t>
            </a:r>
          </a:p>
          <a:p>
            <a:pPr>
              <a:spcBef>
                <a:spcPts val="50"/>
              </a:spcBef>
              <a:spcAft>
                <a:spcPts val="0"/>
              </a:spcAft>
            </a:pPr>
            <a:r>
              <a:rPr sz="950">
                <a:solidFill>
                  <a:srgbClr val="0D2B52"/>
                </a:solidFill>
                <a:latin typeface="Times New Roman"/>
              </a:rPr>
              <a:t>    train_id        INTEGER NOT NULL,</a:t>
            </a:r>
          </a:p>
          <a:p>
            <a:pPr>
              <a:spcBef>
                <a:spcPts val="50"/>
              </a:spcBef>
              <a:spcAft>
                <a:spcPts val="0"/>
              </a:spcAft>
            </a:pPr>
            <a:r>
              <a:rPr sz="950">
                <a:solidFill>
                  <a:srgbClr val="0D2B52"/>
                </a:solidFill>
                <a:latin typeface="Times New Roman"/>
              </a:rPr>
              <a:t>    seat_number     TEXT NOT NULL,</a:t>
            </a:r>
          </a:p>
          <a:p>
            <a:pPr>
              <a:spcBef>
                <a:spcPts val="50"/>
              </a:spcBef>
              <a:spcAft>
                <a:spcPts val="0"/>
              </a:spcAft>
            </a:pPr>
            <a:r>
              <a:rPr sz="950">
                <a:solidFill>
                  <a:srgbClr val="0D2B52"/>
                </a:solidFill>
                <a:latin typeface="Times New Roman"/>
              </a:rPr>
              <a:t>    booking_date    DATETIME DEFAULT CURRENT_TIMESTAMP,</a:t>
            </a:r>
          </a:p>
          <a:p>
            <a:pPr>
              <a:spcBef>
                <a:spcPts val="50"/>
              </a:spcBef>
              <a:spcAft>
                <a:spcPts val="0"/>
              </a:spcAft>
            </a:pPr>
            <a:r>
              <a:rPr sz="950">
                <a:solidFill>
                  <a:srgbClr val="0D2B52"/>
                </a:solidFill>
                <a:latin typeface="Times New Roman"/>
              </a:rPr>
              <a:t>    status          TEXT DEFAULT 'confirmed',</a:t>
            </a:r>
          </a:p>
          <a:p>
            <a:pPr>
              <a:spcBef>
                <a:spcPts val="50"/>
              </a:spcBef>
              <a:spcAft>
                <a:spcPts val="0"/>
              </a:spcAft>
            </a:pPr>
            <a:r>
              <a:rPr sz="950">
                <a:solidFill>
                  <a:srgbClr val="0D2B52"/>
                </a:solidFill>
                <a:latin typeface="Times New Roman"/>
              </a:rPr>
              <a:t>    travel_date     TEXT NOT NULL,</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 Enforce referential integrity</a:t>
            </a:r>
          </a:p>
          <a:p>
            <a:pPr>
              <a:spcBef>
                <a:spcPts val="50"/>
              </a:spcBef>
              <a:spcAft>
                <a:spcPts val="0"/>
              </a:spcAft>
            </a:pPr>
            <a:r>
              <a:rPr sz="950">
                <a:solidFill>
                  <a:srgbClr val="0D2B52"/>
                </a:solidFill>
                <a:latin typeface="Times New Roman"/>
              </a:rPr>
              <a:t>    FOREIGN KEY (user_id) REFERENCES users(id) </a:t>
            </a:r>
          </a:p>
          <a:p>
            <a:pPr>
              <a:spcBef>
                <a:spcPts val="50"/>
              </a:spcBef>
              <a:spcAft>
                <a:spcPts val="0"/>
              </a:spcAft>
            </a:pPr>
            <a:r>
              <a:rPr sz="950">
                <a:solidFill>
                  <a:srgbClr val="0D2B52"/>
                </a:solidFill>
                <a:latin typeface="Times New Roman"/>
              </a:rPr>
              <a:t>        ON DELETE CASCADE,</a:t>
            </a:r>
          </a:p>
          <a:p>
            <a:pPr>
              <a:spcBef>
                <a:spcPts val="50"/>
              </a:spcBef>
              <a:spcAft>
                <a:spcPts val="0"/>
              </a:spcAft>
            </a:pPr>
            <a:r>
              <a:rPr sz="950">
                <a:solidFill>
                  <a:srgbClr val="0D2B52"/>
                </a:solidFill>
                <a:latin typeface="Times New Roman"/>
              </a:rPr>
              <a:t>    FOREIGN KEY (train_id) REFERENCES trains(id) </a:t>
            </a:r>
          </a:p>
          <a:p>
            <a:pPr>
              <a:spcBef>
                <a:spcPts val="50"/>
              </a:spcBef>
              <a:spcAft>
                <a:spcPts val="0"/>
              </a:spcAft>
            </a:pPr>
            <a:r>
              <a:rPr sz="950">
                <a:solidFill>
                  <a:srgbClr val="0D2B52"/>
                </a:solidFill>
                <a:latin typeface="Times New Roman"/>
              </a:rPr>
              <a:t>        ON DELETE CASCADE</a:t>
            </a:r>
          </a:p>
          <a:p>
            <a:pPr>
              <a:spcBef>
                <a:spcPts val="50"/>
              </a:spcBef>
              <a:spcAft>
                <a:spcPts val="0"/>
              </a:spcAft>
            </a:pPr>
            <a:r>
              <a:rPr sz="950">
                <a:solidFill>
                  <a:srgbClr val="0D2B52"/>
                </a:solidFill>
                <a:latin typeface="Times New Roman"/>
              </a:rPr>
              <a:t>);</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Enforces that booking records cannot exist without associated users or trains.</a:t>
            </a:r>
          </a:p>
          <a:p>
            <a:pPr>
              <a:spcBef>
                <a:spcPts val="50"/>
              </a:spcBef>
              <a:spcAft>
                <a:spcPts val="0"/>
              </a:spcAft>
            </a:pPr>
            <a:r>
              <a:rPr sz="950">
                <a:solidFill>
                  <a:srgbClr val="0D2B52"/>
                </a:solidFill>
                <a:latin typeface="Times New Roman"/>
              </a:rPr>
              <a:t>-- Using cascading deletes deletes booking records if the corresponding train is deleted.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11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74320"/>
          </a:xfrm>
          <a:prstGeom prst="rect">
            <a:avLst/>
          </a:prstGeom>
          <a:noFill/>
        </p:spPr>
        <p:txBody>
          <a:bodyPr wrap="square">
            <a:spAutoFit/>
          </a:bodyPr>
          <a:lstStyle/>
          <a:p>
            <a:pPr>
              <a:spcBef>
                <a:spcPts val="100"/>
              </a:spcBef>
            </a:pPr>
            <a:r>
              <a:rPr sz="1400" b="1">
                <a:latin typeface="Times New Roman"/>
              </a:rPr>
              <a:t>3.3 DATABASE IMPLEMENTATION - DML</a:t>
            </a:r>
          </a:p>
        </p:txBody>
      </p:sp>
      <p:sp>
        <p:nvSpPr>
          <p:cNvPr id="9" name="TextBox 8"/>
          <p:cNvSpPr txBox="1"/>
          <p:nvPr/>
        </p:nvSpPr>
        <p:spPr>
          <a:xfrm>
            <a:off x="1032357" y="1234440"/>
            <a:ext cx="5747918" cy="228600"/>
          </a:xfrm>
          <a:prstGeom prst="rect">
            <a:avLst/>
          </a:prstGeom>
          <a:noFill/>
        </p:spPr>
        <p:txBody>
          <a:bodyPr wrap="square">
            <a:spAutoFit/>
          </a:bodyPr>
          <a:lstStyle/>
          <a:p>
            <a:pPr>
              <a:spcBef>
                <a:spcPts val="100"/>
              </a:spcBef>
            </a:pPr>
            <a:r>
              <a:rPr sz="1200" b="1">
                <a:solidFill>
                  <a:srgbClr val="1F477B"/>
                </a:solidFill>
                <a:latin typeface="Times New Roman"/>
              </a:rPr>
              <a:t>DATA MANIPULATION LANGUAGE (DML) – SEEDING TRAIN DATA</a:t>
            </a:r>
          </a:p>
        </p:txBody>
      </p:sp>
      <p:sp>
        <p:nvSpPr>
          <p:cNvPr id="10" name="TextBox 9"/>
          <p:cNvSpPr txBox="1"/>
          <p:nvPr/>
        </p:nvSpPr>
        <p:spPr>
          <a:xfrm>
            <a:off x="1032357" y="1508760"/>
            <a:ext cx="5747918" cy="7406640"/>
          </a:xfrm>
          <a:prstGeom prst="rect">
            <a:avLst/>
          </a:prstGeom>
          <a:noFill/>
        </p:spPr>
        <p:txBody>
          <a:bodyPr wrap="square">
            <a:spAutoFit/>
          </a:bodyPr>
          <a:lstStyle/>
          <a:p>
            <a:pPr>
              <a:spcBef>
                <a:spcPts val="50"/>
              </a:spcBef>
              <a:spcAft>
                <a:spcPts val="0"/>
              </a:spcAft>
            </a:pPr>
            <a:r>
              <a:rPr sz="900">
                <a:solidFill>
                  <a:srgbClr val="0D2B52"/>
                </a:solidFill>
                <a:latin typeface="Times New Roman"/>
              </a:rPr>
              <a:t>-- DML Insert Statements (Part 1)</a:t>
            </a:r>
          </a:p>
          <a:p>
            <a:pPr>
              <a:spcBef>
                <a:spcPts val="50"/>
              </a:spcBef>
              <a:spcAft>
                <a:spcPts val="0"/>
              </a:spcAft>
            </a:pPr>
            <a:r>
              <a:rPr sz="900">
                <a:solidFill>
                  <a:srgbClr val="0D2B52"/>
                </a:solidFill>
                <a:latin typeface="Times New Roman"/>
              </a:rPr>
              <a:t>-- Seed Indian Railways Train Schedules</a:t>
            </a:r>
          </a:p>
          <a:p>
            <a:pPr>
              <a:spcBef>
                <a:spcPts val="50"/>
              </a:spcBef>
              <a:spcAft>
                <a:spcPts val="0"/>
              </a:spcAft>
            </a:pPr>
            <a:r>
              <a:rPr sz="900">
                <a:solidFill>
                  <a:srgbClr val="0D2B52"/>
                </a:solidFill>
                <a:latin typeface="Times New Roman"/>
              </a:rPr>
              <a:t> </a:t>
            </a:r>
          </a:p>
          <a:p>
            <a:pPr>
              <a:spcBef>
                <a:spcPts val="50"/>
              </a:spcBef>
              <a:spcAft>
                <a:spcPts val="0"/>
              </a:spcAft>
            </a:pPr>
            <a:r>
              <a:rPr sz="900">
                <a:solidFill>
                  <a:srgbClr val="0D2B52"/>
                </a:solidFill>
                <a:latin typeface="Times New Roman"/>
              </a:rPr>
              <a:t>INSERT OR IGNORE INTO trains </a:t>
            </a:r>
          </a:p>
          <a:p>
            <a:pPr>
              <a:spcBef>
                <a:spcPts val="50"/>
              </a:spcBef>
              <a:spcAft>
                <a:spcPts val="0"/>
              </a:spcAft>
            </a:pPr>
            <a:r>
              <a:rPr sz="900">
                <a:solidFill>
                  <a:srgbClr val="0D2B52"/>
                </a:solidFill>
                <a:latin typeface="Times New Roman"/>
              </a:rPr>
              <a:t>  (train_number, name, source, destination, departure_time, arrival_time, price_base)</a:t>
            </a:r>
          </a:p>
          <a:p>
            <a:pPr>
              <a:spcBef>
                <a:spcPts val="50"/>
              </a:spcBef>
              <a:spcAft>
                <a:spcPts val="0"/>
              </a:spcAft>
            </a:pPr>
            <a:r>
              <a:rPr sz="900">
                <a:solidFill>
                  <a:srgbClr val="0D2B52"/>
                </a:solidFill>
                <a:latin typeface="Times New Roman"/>
              </a:rPr>
              <a:t>VALUES</a:t>
            </a:r>
          </a:p>
          <a:p>
            <a:pPr>
              <a:spcBef>
                <a:spcPts val="50"/>
              </a:spcBef>
              <a:spcAft>
                <a:spcPts val="0"/>
              </a:spcAft>
            </a:pPr>
            <a:r>
              <a:rPr sz="900">
                <a:solidFill>
                  <a:srgbClr val="0D2B52"/>
                </a:solidFill>
                <a:latin typeface="Times New Roman"/>
              </a:rPr>
              <a:t>  ('12433','Chennai Rajdhani','Chennai','Delhi','06:00','10:30',3200.00),</a:t>
            </a:r>
          </a:p>
          <a:p>
            <a:pPr>
              <a:spcBef>
                <a:spcPts val="50"/>
              </a:spcBef>
              <a:spcAft>
                <a:spcPts val="0"/>
              </a:spcAft>
            </a:pPr>
            <a:r>
              <a:rPr sz="900">
                <a:solidFill>
                  <a:srgbClr val="0D2B52"/>
                </a:solidFill>
                <a:latin typeface="Times New Roman"/>
              </a:rPr>
              <a:t>  ('12002','Bhopal Shatabdi','Delhi','Bhopal','06:15','14:00',1800.00),</a:t>
            </a:r>
          </a:p>
          <a:p>
            <a:pPr>
              <a:spcBef>
                <a:spcPts val="50"/>
              </a:spcBef>
              <a:spcAft>
                <a:spcPts val="0"/>
              </a:spcAft>
            </a:pPr>
            <a:r>
              <a:rPr sz="900">
                <a:solidFill>
                  <a:srgbClr val="0D2B52"/>
                </a:solidFill>
                <a:latin typeface="Times New Roman"/>
              </a:rPr>
              <a:t>  ('22436','Vande Bharat Express','Delhi','Varanasi','06:00','14:00',2500.00),</a:t>
            </a:r>
          </a:p>
          <a:p>
            <a:pPr>
              <a:spcBef>
                <a:spcPts val="50"/>
              </a:spcBef>
              <a:spcAft>
                <a:spcPts val="0"/>
              </a:spcAft>
            </a:pPr>
            <a:r>
              <a:rPr sz="900">
                <a:solidFill>
                  <a:srgbClr val="0D2B52"/>
                </a:solidFill>
                <a:latin typeface="Times New Roman"/>
              </a:rPr>
              <a:t>  ('12260','Duronto Express','Kolkata','Delhi','17:00','10:30',2800.00),</a:t>
            </a:r>
          </a:p>
          <a:p>
            <a:pPr>
              <a:spcBef>
                <a:spcPts val="50"/>
              </a:spcBef>
              <a:spcAft>
                <a:spcPts val="0"/>
              </a:spcAft>
            </a:pPr>
            <a:r>
              <a:rPr sz="900">
                <a:solidFill>
                  <a:srgbClr val="0D2B52"/>
                </a:solidFill>
                <a:latin typeface="Times New Roman"/>
              </a:rPr>
              <a:t>  ('12951','Mumbai Rajdhani','Mumbai','Delhi','16:35','08:35',3100.00),</a:t>
            </a:r>
          </a:p>
          <a:p>
            <a:pPr>
              <a:spcBef>
                <a:spcPts val="50"/>
              </a:spcBef>
              <a:spcAft>
                <a:spcPts val="0"/>
              </a:spcAft>
            </a:pPr>
            <a:r>
              <a:rPr sz="900">
                <a:solidFill>
                  <a:srgbClr val="0D2B52"/>
                </a:solidFill>
                <a:latin typeface="Times New Roman"/>
              </a:rPr>
              <a:t>  ('12124','Deccan Queen','Pune','Mumbai','07:15','10:25',900.00),</a:t>
            </a:r>
          </a:p>
          <a:p>
            <a:pPr>
              <a:spcBef>
                <a:spcPts val="50"/>
              </a:spcBef>
              <a:spcAft>
                <a:spcPts val="0"/>
              </a:spcAft>
            </a:pPr>
            <a:r>
              <a:rPr sz="900">
                <a:solidFill>
                  <a:srgbClr val="0D2B52"/>
                </a:solidFill>
                <a:latin typeface="Times New Roman"/>
              </a:rPr>
              <a:t>  ('12841','Coromandel Express','Kolkata','Chennai','15:20','17:15',1800.00),</a:t>
            </a:r>
          </a:p>
          <a:p>
            <a:pPr>
              <a:spcBef>
                <a:spcPts val="50"/>
              </a:spcBef>
              <a:spcAft>
                <a:spcPts val="0"/>
              </a:spcAft>
            </a:pPr>
            <a:r>
              <a:rPr sz="900">
                <a:solidFill>
                  <a:srgbClr val="0D2B52"/>
                </a:solidFill>
                <a:latin typeface="Times New Roman"/>
              </a:rPr>
              <a:t>  ('12622','Tamil Nadu Express','Delhi','Chennai','21:05','06:15',2400.00),</a:t>
            </a:r>
          </a:p>
          <a:p>
            <a:pPr>
              <a:spcBef>
                <a:spcPts val="50"/>
              </a:spcBef>
              <a:spcAft>
                <a:spcPts val="0"/>
              </a:spcAft>
            </a:pPr>
            <a:r>
              <a:rPr sz="900">
                <a:solidFill>
                  <a:srgbClr val="0D2B52"/>
                </a:solidFill>
                <a:latin typeface="Times New Roman"/>
              </a:rPr>
              <a:t>  ('12007','Mysuru Shatabdi','Chennai','Mysore','06:00','13:00',1400.00),</a:t>
            </a:r>
          </a:p>
          <a:p>
            <a:pPr>
              <a:spcBef>
                <a:spcPts val="50"/>
              </a:spcBef>
              <a:spcAft>
                <a:spcPts val="0"/>
              </a:spcAft>
            </a:pPr>
            <a:r>
              <a:rPr sz="900">
                <a:solidFill>
                  <a:srgbClr val="0D2B52"/>
                </a:solidFill>
                <a:latin typeface="Times New Roman"/>
              </a:rPr>
              <a:t>  ('12723','Telangana Express','Hyderabad','Delhi','06:25','09:05',2100.00),</a:t>
            </a:r>
          </a:p>
          <a:p>
            <a:pPr>
              <a:spcBef>
                <a:spcPts val="50"/>
              </a:spcBef>
              <a:spcAft>
                <a:spcPts val="0"/>
              </a:spcAft>
            </a:pPr>
            <a:r>
              <a:rPr sz="900">
                <a:solidFill>
                  <a:srgbClr val="0D2B52"/>
                </a:solidFill>
                <a:latin typeface="Times New Roman"/>
              </a:rPr>
              <a:t>  ('12213','Duronto Express','Bangalore','Delhi','23:40','07:00',2900.00);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12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28600"/>
          </a:xfrm>
          <a:prstGeom prst="rect">
            <a:avLst/>
          </a:prstGeom>
          <a:noFill/>
        </p:spPr>
        <p:txBody>
          <a:bodyPr wrap="square">
            <a:spAutoFit/>
          </a:bodyPr>
          <a:lstStyle/>
          <a:p>
            <a:pPr>
              <a:spcBef>
                <a:spcPts val="100"/>
              </a:spcBef>
            </a:pPr>
            <a:r>
              <a:rPr sz="1200" b="1">
                <a:solidFill>
                  <a:srgbClr val="1F477B"/>
                </a:solidFill>
                <a:latin typeface="Times New Roman"/>
              </a:rPr>
              <a:t>DATA MANIPULATION LANGUAGE (DML) – SEEDING USERS &amp; SELECTION</a:t>
            </a:r>
          </a:p>
        </p:txBody>
      </p:sp>
      <p:sp>
        <p:nvSpPr>
          <p:cNvPr id="9" name="TextBox 8"/>
          <p:cNvSpPr txBox="1"/>
          <p:nvPr/>
        </p:nvSpPr>
        <p:spPr>
          <a:xfrm>
            <a:off x="1032357" y="123444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DML Insert Statements (Part 2)</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Seed User and Admin profiles</a:t>
            </a:r>
          </a:p>
          <a:p>
            <a:pPr>
              <a:spcBef>
                <a:spcPts val="50"/>
              </a:spcBef>
              <a:spcAft>
                <a:spcPts val="0"/>
              </a:spcAft>
            </a:pPr>
            <a:r>
              <a:rPr sz="950">
                <a:solidFill>
                  <a:srgbClr val="0D2B52"/>
                </a:solidFill>
                <a:latin typeface="Times New Roman"/>
              </a:rPr>
              <a:t>INSERT OR IGNORE INTO users (name, email, password, role) VALUES</a:t>
            </a:r>
          </a:p>
          <a:p>
            <a:pPr>
              <a:spcBef>
                <a:spcPts val="50"/>
              </a:spcBef>
              <a:spcAft>
                <a:spcPts val="0"/>
              </a:spcAft>
            </a:pPr>
            <a:r>
              <a:rPr sz="950">
                <a:solidFill>
                  <a:srgbClr val="0D2B52"/>
                </a:solidFill>
                <a:latin typeface="Times New Roman"/>
              </a:rPr>
              <a:t>  ('Jeevan', 'jeevan@gmail.com', 'Jeevan@333', 'user'),</a:t>
            </a:r>
          </a:p>
          <a:p>
            <a:pPr>
              <a:spcBef>
                <a:spcPts val="50"/>
              </a:spcBef>
              <a:spcAft>
                <a:spcPts val="0"/>
              </a:spcAft>
            </a:pPr>
            <a:r>
              <a:rPr sz="950">
                <a:solidFill>
                  <a:srgbClr val="0D2B52"/>
                </a:solidFill>
                <a:latin typeface="Times New Roman"/>
              </a:rPr>
              <a:t>  ('Admin', 'admin@eliterail.com', 'admin123', 'admin');</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DML Selection Queries (Core)</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-- 1. View all trains</a:t>
            </a:r>
          </a:p>
          <a:p>
            <a:pPr>
              <a:spcBef>
                <a:spcPts val="50"/>
              </a:spcBef>
              <a:spcAft>
                <a:spcPts val="0"/>
              </a:spcAft>
            </a:pPr>
            <a:r>
              <a:rPr sz="950">
                <a:solidFill>
                  <a:srgbClr val="0D2B52"/>
                </a:solidFill>
                <a:latin typeface="Times New Roman"/>
              </a:rPr>
              <a:t>SELECT * FROM trains;</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-- 2. View all users</a:t>
            </a:r>
          </a:p>
          <a:p>
            <a:pPr>
              <a:spcBef>
                <a:spcPts val="50"/>
              </a:spcBef>
              <a:spcAft>
                <a:spcPts val="0"/>
              </a:spcAft>
            </a:pPr>
            <a:r>
              <a:rPr sz="950">
                <a:solidFill>
                  <a:srgbClr val="0D2B52"/>
                </a:solidFill>
                <a:latin typeface="Times New Roman"/>
              </a:rPr>
              <a:t>SELECT id, name, email, role FROM users;</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-- 3. View confirmed bookings</a:t>
            </a:r>
          </a:p>
          <a:p>
            <a:pPr>
              <a:spcBef>
                <a:spcPts val="50"/>
              </a:spcBef>
              <a:spcAft>
                <a:spcPts val="0"/>
              </a:spcAft>
            </a:pPr>
            <a:r>
              <a:rPr sz="950">
                <a:solidFill>
                  <a:srgbClr val="0D2B52"/>
                </a:solidFill>
                <a:latin typeface="Times New Roman"/>
              </a:rPr>
              <a:t>SELECT * FROM bookings WHERE status = 'confirmed';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13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28600"/>
          </a:xfrm>
          <a:prstGeom prst="rect">
            <a:avLst/>
          </a:prstGeom>
          <a:noFill/>
        </p:spPr>
        <p:txBody>
          <a:bodyPr wrap="square">
            <a:spAutoFit/>
          </a:bodyPr>
          <a:lstStyle/>
          <a:p>
            <a:pPr>
              <a:spcBef>
                <a:spcPts val="100"/>
              </a:spcBef>
            </a:pPr>
            <a:r>
              <a:rPr sz="1200" b="1">
                <a:solidFill>
                  <a:srgbClr val="1F477B"/>
                </a:solidFill>
                <a:latin typeface="Times New Roman"/>
              </a:rPr>
              <a:t>DATA MANIPULATION LANGUAGE (DML) – TRAIN SEARCH &amp; BOOKINGS</a:t>
            </a:r>
          </a:p>
        </p:txBody>
      </p:sp>
      <p:sp>
        <p:nvSpPr>
          <p:cNvPr id="9" name="TextBox 8"/>
          <p:cNvSpPr txBox="1"/>
          <p:nvPr/>
        </p:nvSpPr>
        <p:spPr>
          <a:xfrm>
            <a:off x="1032357" y="123444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DML Core Queries for API interactions</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-- 1. Search Trains dynamically by source, destination</a:t>
            </a:r>
          </a:p>
          <a:p>
            <a:pPr>
              <a:spcBef>
                <a:spcPts val="50"/>
              </a:spcBef>
              <a:spcAft>
                <a:spcPts val="0"/>
              </a:spcAft>
            </a:pPr>
            <a:r>
              <a:rPr sz="950">
                <a:solidFill>
                  <a:srgbClr val="0D2B52"/>
                </a:solidFill>
                <a:latin typeface="Times New Roman"/>
              </a:rPr>
              <a:t>SELECT id, train_number, name, source, destination, departure_time, arrival_time, price_base</a:t>
            </a:r>
          </a:p>
          <a:p>
            <a:pPr>
              <a:spcBef>
                <a:spcPts val="50"/>
              </a:spcBef>
              <a:spcAft>
                <a:spcPts val="0"/>
              </a:spcAft>
            </a:pPr>
            <a:r>
              <a:rPr sz="950">
                <a:solidFill>
                  <a:srgbClr val="0D2B52"/>
                </a:solidFill>
                <a:latin typeface="Times New Roman"/>
              </a:rPr>
              <a:t>FROM trains</a:t>
            </a:r>
          </a:p>
          <a:p>
            <a:pPr>
              <a:spcBef>
                <a:spcPts val="50"/>
              </a:spcBef>
              <a:spcAft>
                <a:spcPts val="0"/>
              </a:spcAft>
            </a:pPr>
            <a:r>
              <a:rPr sz="950">
                <a:solidFill>
                  <a:srgbClr val="0D2B52"/>
                </a:solidFill>
                <a:latin typeface="Times New Roman"/>
              </a:rPr>
              <a:t>WHERE source LIKE '%Chennai%' AND destination LIKE '%Delhi%';</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-- 2. Insert new passenger booking (DML INSERT)</a:t>
            </a:r>
          </a:p>
          <a:p>
            <a:pPr>
              <a:spcBef>
                <a:spcPts val="50"/>
              </a:spcBef>
              <a:spcAft>
                <a:spcPts val="0"/>
              </a:spcAft>
            </a:pPr>
            <a:r>
              <a:rPr sz="950">
                <a:solidFill>
                  <a:srgbClr val="0D2B52"/>
                </a:solidFill>
                <a:latin typeface="Times New Roman"/>
              </a:rPr>
              <a:t>INSERT INTO bookings (user_id, train_id, seat_number, travel_date, status)</a:t>
            </a:r>
          </a:p>
          <a:p>
            <a:pPr>
              <a:spcBef>
                <a:spcPts val="50"/>
              </a:spcBef>
              <a:spcAft>
                <a:spcPts val="0"/>
              </a:spcAft>
            </a:pPr>
            <a:r>
              <a:rPr sz="950">
                <a:solidFill>
                  <a:srgbClr val="0D2B52"/>
                </a:solidFill>
                <a:latin typeface="Times New Roman"/>
              </a:rPr>
              <a:t>VALUES (1, 3, 'S-14', '2026-06-15', 'confirmed');</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-- 3. Retrieve all bookings of a specific user with relational JOIN</a:t>
            </a:r>
          </a:p>
          <a:p>
            <a:pPr>
              <a:spcBef>
                <a:spcPts val="50"/>
              </a:spcBef>
              <a:spcAft>
                <a:spcPts val="0"/>
              </a:spcAft>
            </a:pPr>
            <a:r>
              <a:rPr sz="950">
                <a:solidFill>
                  <a:srgbClr val="0D2B52"/>
                </a:solidFill>
                <a:latin typeface="Times New Roman"/>
              </a:rPr>
              <a:t>SELECT b.id, b.seat_number, b.travel_date, b.status,</a:t>
            </a:r>
          </a:p>
          <a:p>
            <a:pPr>
              <a:spcBef>
                <a:spcPts val="50"/>
              </a:spcBef>
              <a:spcAft>
                <a:spcPts val="0"/>
              </a:spcAft>
            </a:pPr>
            <a:r>
              <a:rPr sz="950">
                <a:solidFill>
                  <a:srgbClr val="0D2B52"/>
                </a:solidFill>
                <a:latin typeface="Times New Roman"/>
              </a:rPr>
              <a:t>       t.name AS train_name, t.source, t.destination, t.departure_time</a:t>
            </a:r>
          </a:p>
          <a:p>
            <a:pPr>
              <a:spcBef>
                <a:spcPts val="50"/>
              </a:spcBef>
              <a:spcAft>
                <a:spcPts val="0"/>
              </a:spcAft>
            </a:pPr>
            <a:r>
              <a:rPr sz="950">
                <a:solidFill>
                  <a:srgbClr val="0D2B52"/>
                </a:solidFill>
                <a:latin typeface="Times New Roman"/>
              </a:rPr>
              <a:t>FROM bookings b</a:t>
            </a:r>
          </a:p>
          <a:p>
            <a:pPr>
              <a:spcBef>
                <a:spcPts val="50"/>
              </a:spcBef>
              <a:spcAft>
                <a:spcPts val="0"/>
              </a:spcAft>
            </a:pPr>
            <a:r>
              <a:rPr sz="950">
                <a:solidFill>
                  <a:srgbClr val="0D2B52"/>
                </a:solidFill>
                <a:latin typeface="Times New Roman"/>
              </a:rPr>
              <a:t>JOIN trains t ON b.train_id = t.id</a:t>
            </a:r>
          </a:p>
          <a:p>
            <a:pPr>
              <a:spcBef>
                <a:spcPts val="50"/>
              </a:spcBef>
              <a:spcAft>
                <a:spcPts val="0"/>
              </a:spcAft>
            </a:pPr>
            <a:r>
              <a:rPr sz="950">
                <a:solidFill>
                  <a:srgbClr val="0D2B52"/>
                </a:solidFill>
                <a:latin typeface="Times New Roman"/>
              </a:rPr>
              <a:t>WHERE b.user_id = 1</a:t>
            </a:r>
          </a:p>
          <a:p>
            <a:pPr>
              <a:spcBef>
                <a:spcPts val="50"/>
              </a:spcBef>
              <a:spcAft>
                <a:spcPts val="0"/>
              </a:spcAft>
            </a:pPr>
            <a:r>
              <a:rPr sz="950">
                <a:solidFill>
                  <a:srgbClr val="0D2B52"/>
                </a:solidFill>
                <a:latin typeface="Times New Roman"/>
              </a:rPr>
              <a:t>ORDER BY b.travel_date ASC;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14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28600"/>
          </a:xfrm>
          <a:prstGeom prst="rect">
            <a:avLst/>
          </a:prstGeom>
          <a:noFill/>
        </p:spPr>
        <p:txBody>
          <a:bodyPr wrap="square">
            <a:spAutoFit/>
          </a:bodyPr>
          <a:lstStyle/>
          <a:p>
            <a:pPr>
              <a:spcBef>
                <a:spcPts val="100"/>
              </a:spcBef>
            </a:pPr>
            <a:r>
              <a:rPr sz="1200" b="1">
                <a:solidFill>
                  <a:srgbClr val="1F477B"/>
                </a:solidFill>
                <a:latin typeface="Times New Roman"/>
              </a:rPr>
              <a:t>DML – CANCELLATION, ADMIN OPERATIONS &amp; USER AUTHENTICATION</a:t>
            </a:r>
          </a:p>
        </p:txBody>
      </p:sp>
      <p:sp>
        <p:nvSpPr>
          <p:cNvPr id="9" name="TextBox 8"/>
          <p:cNvSpPr txBox="1"/>
          <p:nvPr/>
        </p:nvSpPr>
        <p:spPr>
          <a:xfrm>
            <a:off x="1032357" y="123444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-- 1. Cancel an existing ticket (DML UPDATE)</a:t>
            </a:r>
          </a:p>
          <a:p>
            <a:pPr>
              <a:spcBef>
                <a:spcPts val="50"/>
              </a:spcBef>
              <a:spcAft>
                <a:spcPts val="0"/>
              </a:spcAft>
            </a:pPr>
            <a:r>
              <a:rPr sz="950">
                <a:solidFill>
                  <a:srgbClr val="0D2B52"/>
                </a:solidFill>
                <a:latin typeface="Times New Roman"/>
              </a:rPr>
              <a:t>-- Sets booking status to cancelled to free up the seat</a:t>
            </a:r>
          </a:p>
          <a:p>
            <a:pPr>
              <a:spcBef>
                <a:spcPts val="50"/>
              </a:spcBef>
              <a:spcAft>
                <a:spcPts val="0"/>
              </a:spcAft>
            </a:pPr>
            <a:r>
              <a:rPr sz="950">
                <a:solidFill>
                  <a:srgbClr val="0D2B52"/>
                </a:solidFill>
                <a:latin typeface="Times New Roman"/>
              </a:rPr>
              <a:t>UPDATE bookings</a:t>
            </a:r>
          </a:p>
          <a:p>
            <a:pPr>
              <a:spcBef>
                <a:spcPts val="50"/>
              </a:spcBef>
              <a:spcAft>
                <a:spcPts val="0"/>
              </a:spcAft>
            </a:pPr>
            <a:r>
              <a:rPr sz="950">
                <a:solidFill>
                  <a:srgbClr val="0D2B52"/>
                </a:solidFill>
                <a:latin typeface="Times New Roman"/>
              </a:rPr>
              <a:t>SET status = 'cancelled'</a:t>
            </a:r>
          </a:p>
          <a:p>
            <a:pPr>
              <a:spcBef>
                <a:spcPts val="50"/>
              </a:spcBef>
              <a:spcAft>
                <a:spcPts val="0"/>
              </a:spcAft>
            </a:pPr>
            <a:r>
              <a:rPr sz="950">
                <a:solidFill>
                  <a:srgbClr val="0D2B52"/>
                </a:solidFill>
                <a:latin typeface="Times New Roman"/>
              </a:rPr>
              <a:t>WHERE id = 5 AND user_id = 1;</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-- 2. Remove train schedule from system (DML DELETE - Admin Only)</a:t>
            </a:r>
          </a:p>
          <a:p>
            <a:pPr>
              <a:spcBef>
                <a:spcPts val="50"/>
              </a:spcBef>
              <a:spcAft>
                <a:spcPts val="0"/>
              </a:spcAft>
            </a:pPr>
            <a:r>
              <a:rPr sz="950">
                <a:solidFill>
                  <a:srgbClr val="0D2B52"/>
                </a:solidFill>
                <a:latin typeface="Times New Roman"/>
              </a:rPr>
              <a:t>DELETE FROM trains</a:t>
            </a:r>
          </a:p>
          <a:p>
            <a:pPr>
              <a:spcBef>
                <a:spcPts val="50"/>
              </a:spcBef>
              <a:spcAft>
                <a:spcPts val="0"/>
              </a:spcAft>
            </a:pPr>
            <a:r>
              <a:rPr sz="950">
                <a:solidFill>
                  <a:srgbClr val="0D2B52"/>
                </a:solidFill>
                <a:latin typeface="Times New Roman"/>
              </a:rPr>
              <a:t>WHERE id = 12;</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-- 3. User Credentials verification query</a:t>
            </a:r>
          </a:p>
          <a:p>
            <a:pPr>
              <a:spcBef>
                <a:spcPts val="50"/>
              </a:spcBef>
              <a:spcAft>
                <a:spcPts val="0"/>
              </a:spcAft>
            </a:pPr>
            <a:r>
              <a:rPr sz="950">
                <a:solidFill>
                  <a:srgbClr val="0D2B52"/>
                </a:solidFill>
                <a:latin typeface="Times New Roman"/>
              </a:rPr>
              <a:t>SELECT id, name, email, role</a:t>
            </a:r>
          </a:p>
          <a:p>
            <a:pPr>
              <a:spcBef>
                <a:spcPts val="50"/>
              </a:spcBef>
              <a:spcAft>
                <a:spcPts val="0"/>
              </a:spcAft>
            </a:pPr>
            <a:r>
              <a:rPr sz="950">
                <a:solidFill>
                  <a:srgbClr val="0D2B52"/>
                </a:solidFill>
                <a:latin typeface="Times New Roman"/>
              </a:rPr>
              <a:t>FROM users</a:t>
            </a:r>
          </a:p>
          <a:p>
            <a:pPr>
              <a:spcBef>
                <a:spcPts val="50"/>
              </a:spcBef>
              <a:spcAft>
                <a:spcPts val="0"/>
              </a:spcAft>
            </a:pPr>
            <a:r>
              <a:rPr sz="950">
                <a:solidFill>
                  <a:srgbClr val="0D2B52"/>
                </a:solidFill>
                <a:latin typeface="Times New Roman"/>
              </a:rPr>
              <a:t>WHERE email = 'jeevan@gmail.com' AND password = 'Jeevan@333';</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-- 4. Check real-time seat occupancy for a train on a given date</a:t>
            </a:r>
          </a:p>
          <a:p>
            <a:pPr>
              <a:spcBef>
                <a:spcPts val="50"/>
              </a:spcBef>
              <a:spcAft>
                <a:spcPts val="0"/>
              </a:spcAft>
            </a:pPr>
            <a:r>
              <a:rPr sz="950">
                <a:solidFill>
                  <a:srgbClr val="0D2B52"/>
                </a:solidFill>
                <a:latin typeface="Times New Roman"/>
              </a:rPr>
              <a:t>SELECT seat_number</a:t>
            </a:r>
          </a:p>
          <a:p>
            <a:pPr>
              <a:spcBef>
                <a:spcPts val="50"/>
              </a:spcBef>
              <a:spcAft>
                <a:spcPts val="0"/>
              </a:spcAft>
            </a:pPr>
            <a:r>
              <a:rPr sz="950">
                <a:solidFill>
                  <a:srgbClr val="0D2B52"/>
                </a:solidFill>
                <a:latin typeface="Times New Roman"/>
              </a:rPr>
              <a:t>FROM bookings</a:t>
            </a:r>
          </a:p>
          <a:p>
            <a:pPr>
              <a:spcBef>
                <a:spcPts val="50"/>
              </a:spcBef>
              <a:spcAft>
                <a:spcPts val="0"/>
              </a:spcAft>
            </a:pPr>
            <a:r>
              <a:rPr sz="950">
                <a:solidFill>
                  <a:srgbClr val="0D2B52"/>
                </a:solidFill>
                <a:latin typeface="Times New Roman"/>
              </a:rPr>
              <a:t>WHERE train_id = 3 AND travel_date = '2026-06-15' AND status = 'confirmed';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15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74320"/>
          </a:xfrm>
          <a:prstGeom prst="rect">
            <a:avLst/>
          </a:prstGeom>
          <a:noFill/>
        </p:spPr>
        <p:txBody>
          <a:bodyPr wrap="square">
            <a:spAutoFit/>
          </a:bodyPr>
          <a:lstStyle/>
          <a:p>
            <a:pPr>
              <a:spcBef>
                <a:spcPts val="100"/>
              </a:spcBef>
            </a:pPr>
            <a:r>
              <a:rPr sz="1400" b="1">
                <a:latin typeface="Times New Roman"/>
              </a:rPr>
              <a:t>3.4 TRIGGERS</a:t>
            </a:r>
          </a:p>
        </p:txBody>
      </p:sp>
      <p:sp>
        <p:nvSpPr>
          <p:cNvPr id="9" name="TextBox 8"/>
          <p:cNvSpPr txBox="1"/>
          <p:nvPr/>
        </p:nvSpPr>
        <p:spPr>
          <a:xfrm>
            <a:off x="1032357" y="1234440"/>
            <a:ext cx="5747918" cy="228600"/>
          </a:xfrm>
          <a:prstGeom prst="rect">
            <a:avLst/>
          </a:prstGeom>
          <a:noFill/>
        </p:spPr>
        <p:txBody>
          <a:bodyPr wrap="square">
            <a:spAutoFit/>
          </a:bodyPr>
          <a:lstStyle/>
          <a:p>
            <a:pPr>
              <a:spcBef>
                <a:spcPts val="100"/>
              </a:spcBef>
            </a:pPr>
            <a:r>
              <a:rPr sz="1200" b="1">
                <a:solidFill>
                  <a:srgbClr val="1F477B"/>
                </a:solidFill>
                <a:latin typeface="Times New Roman"/>
              </a:rPr>
              <a:t>TRIGGER 1 – PREVENT DOUBLE BOOKING TRANSACTIONS</a:t>
            </a:r>
          </a:p>
        </p:txBody>
      </p:sp>
      <p:sp>
        <p:nvSpPr>
          <p:cNvPr id="10" name="TextBox 9"/>
          <p:cNvSpPr txBox="1"/>
          <p:nvPr/>
        </p:nvSpPr>
        <p:spPr>
          <a:xfrm>
            <a:off x="1032357" y="150876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Custom SQLite trigger to enforce transaction integrity</a:t>
            </a:r>
          </a:p>
          <a:p>
            <a:pPr>
              <a:spcBef>
                <a:spcPts val="50"/>
              </a:spcBef>
              <a:spcAft>
                <a:spcPts val="0"/>
              </a:spcAft>
            </a:pPr>
            <a:r>
              <a:rPr sz="950">
                <a:solidFill>
                  <a:srgbClr val="0D2B52"/>
                </a:solidFill>
                <a:latin typeface="Times New Roman"/>
              </a:rPr>
              <a:t>-- Prevents overlapping passenger bookings for the same seat/train/date</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CREATE TRIGGER IF NOT EXISTS prevent_double_booking</a:t>
            </a:r>
          </a:p>
          <a:p>
            <a:pPr>
              <a:spcBef>
                <a:spcPts val="50"/>
              </a:spcBef>
              <a:spcAft>
                <a:spcPts val="0"/>
              </a:spcAft>
            </a:pPr>
            <a:r>
              <a:rPr sz="950">
                <a:solidFill>
                  <a:srgbClr val="0D2B52"/>
                </a:solidFill>
                <a:latin typeface="Times New Roman"/>
              </a:rPr>
              <a:t>BEFORE INSERT ON bookings</a:t>
            </a:r>
          </a:p>
          <a:p>
            <a:pPr>
              <a:spcBef>
                <a:spcPts val="50"/>
              </a:spcBef>
              <a:spcAft>
                <a:spcPts val="0"/>
              </a:spcAft>
            </a:pPr>
            <a:r>
              <a:rPr sz="950">
                <a:solidFill>
                  <a:srgbClr val="0D2B52"/>
                </a:solidFill>
                <a:latin typeface="Times New Roman"/>
              </a:rPr>
              <a:t>FOR EACH ROW</a:t>
            </a:r>
          </a:p>
          <a:p>
            <a:pPr>
              <a:spcBef>
                <a:spcPts val="50"/>
              </a:spcBef>
              <a:spcAft>
                <a:spcPts val="0"/>
              </a:spcAft>
            </a:pPr>
            <a:r>
              <a:rPr sz="950">
                <a:solidFill>
                  <a:srgbClr val="0D2B52"/>
                </a:solidFill>
                <a:latin typeface="Times New Roman"/>
              </a:rPr>
              <a:t>BEGIN</a:t>
            </a:r>
          </a:p>
          <a:p>
            <a:pPr>
              <a:spcBef>
                <a:spcPts val="50"/>
              </a:spcBef>
              <a:spcAft>
                <a:spcPts val="0"/>
              </a:spcAft>
            </a:pPr>
            <a:r>
              <a:rPr sz="950">
                <a:solidFill>
                  <a:srgbClr val="0D2B52"/>
                </a:solidFill>
                <a:latin typeface="Times New Roman"/>
              </a:rPr>
              <a:t>    SELECT CASE</a:t>
            </a:r>
          </a:p>
          <a:p>
            <a:pPr>
              <a:spcBef>
                <a:spcPts val="50"/>
              </a:spcBef>
              <a:spcAft>
                <a:spcPts val="0"/>
              </a:spcAft>
            </a:pPr>
            <a:r>
              <a:rPr sz="950">
                <a:solidFill>
                  <a:srgbClr val="0D2B52"/>
                </a:solidFill>
                <a:latin typeface="Times New Roman"/>
              </a:rPr>
              <a:t>        WHEN EXISTS (</a:t>
            </a:r>
          </a:p>
          <a:p>
            <a:pPr>
              <a:spcBef>
                <a:spcPts val="50"/>
              </a:spcBef>
              <a:spcAft>
                <a:spcPts val="0"/>
              </a:spcAft>
            </a:pPr>
            <a:r>
              <a:rPr sz="950">
                <a:solidFill>
                  <a:srgbClr val="0D2B52"/>
                </a:solidFill>
                <a:latin typeface="Times New Roman"/>
              </a:rPr>
              <a:t>            SELECT 1 FROM bookings</a:t>
            </a:r>
          </a:p>
          <a:p>
            <a:pPr>
              <a:spcBef>
                <a:spcPts val="50"/>
              </a:spcBef>
              <a:spcAft>
                <a:spcPts val="0"/>
              </a:spcAft>
            </a:pPr>
            <a:r>
              <a:rPr sz="950">
                <a:solidFill>
                  <a:srgbClr val="0D2B52"/>
                </a:solidFill>
                <a:latin typeface="Times New Roman"/>
              </a:rPr>
              <a:t>            WHERE train_id = NEW.train_id</a:t>
            </a:r>
          </a:p>
          <a:p>
            <a:pPr>
              <a:spcBef>
                <a:spcPts val="50"/>
              </a:spcBef>
              <a:spcAft>
                <a:spcPts val="0"/>
              </a:spcAft>
            </a:pPr>
            <a:r>
              <a:rPr sz="950">
                <a:solidFill>
                  <a:srgbClr val="0D2B52"/>
                </a:solidFill>
                <a:latin typeface="Times New Roman"/>
              </a:rPr>
              <a:t>              AND seat_number = NEW.seat_number</a:t>
            </a:r>
          </a:p>
          <a:p>
            <a:pPr>
              <a:spcBef>
                <a:spcPts val="50"/>
              </a:spcBef>
              <a:spcAft>
                <a:spcPts val="0"/>
              </a:spcAft>
            </a:pPr>
            <a:r>
              <a:rPr sz="950">
                <a:solidFill>
                  <a:srgbClr val="0D2B52"/>
                </a:solidFill>
                <a:latin typeface="Times New Roman"/>
              </a:rPr>
              <a:t>              AND travel_date = NEW.travel_date</a:t>
            </a:r>
          </a:p>
          <a:p>
            <a:pPr>
              <a:spcBef>
                <a:spcPts val="50"/>
              </a:spcBef>
              <a:spcAft>
                <a:spcPts val="0"/>
              </a:spcAft>
            </a:pPr>
            <a:r>
              <a:rPr sz="950">
                <a:solidFill>
                  <a:srgbClr val="0D2B52"/>
                </a:solidFill>
                <a:latin typeface="Times New Roman"/>
              </a:rPr>
              <a:t>              AND status = 'confirmed'</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THEN RAISE(ABORT, 'Seat already booked for this train on this date')</a:t>
            </a:r>
          </a:p>
          <a:p>
            <a:pPr>
              <a:spcBef>
                <a:spcPts val="50"/>
              </a:spcBef>
              <a:spcAft>
                <a:spcPts val="0"/>
              </a:spcAft>
            </a:pPr>
            <a:r>
              <a:rPr sz="950">
                <a:solidFill>
                  <a:srgbClr val="0D2B52"/>
                </a:solidFill>
                <a:latin typeface="Times New Roman"/>
              </a:rPr>
              <a:t>    END;</a:t>
            </a:r>
          </a:p>
          <a:p>
            <a:pPr>
              <a:spcBef>
                <a:spcPts val="50"/>
              </a:spcBef>
              <a:spcAft>
                <a:spcPts val="0"/>
              </a:spcAft>
            </a:pPr>
            <a:r>
              <a:rPr sz="950">
                <a:solidFill>
                  <a:srgbClr val="0D2B52"/>
                </a:solidFill>
                <a:latin typeface="Times New Roman"/>
              </a:rPr>
              <a:t>END;</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This trigger runs BEFORE the record is inserted. If a match is found,</a:t>
            </a:r>
          </a:p>
          <a:p>
            <a:pPr>
              <a:spcBef>
                <a:spcPts val="50"/>
              </a:spcBef>
              <a:spcAft>
                <a:spcPts val="0"/>
              </a:spcAft>
            </a:pPr>
            <a:r>
              <a:rPr sz="950">
                <a:solidFill>
                  <a:srgbClr val="0D2B52"/>
                </a:solidFill>
                <a:latin typeface="Times New Roman"/>
              </a:rPr>
              <a:t>-- the insert is aborted with an error message, preserving relational rules.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16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28600"/>
          </a:xfrm>
          <a:prstGeom prst="rect">
            <a:avLst/>
          </a:prstGeom>
          <a:noFill/>
        </p:spPr>
        <p:txBody>
          <a:bodyPr wrap="square">
            <a:spAutoFit/>
          </a:bodyPr>
          <a:lstStyle/>
          <a:p>
            <a:pPr>
              <a:spcBef>
                <a:spcPts val="100"/>
              </a:spcBef>
            </a:pPr>
            <a:r>
              <a:rPr sz="1200" b="1">
                <a:solidFill>
                  <a:srgbClr val="1F477B"/>
                </a:solidFill>
                <a:latin typeface="Times New Roman"/>
              </a:rPr>
              <a:t>TRIGGER 2 &amp; 3 – UTILITIES AND AUDIT TRAIL LOGGING</a:t>
            </a:r>
          </a:p>
        </p:txBody>
      </p:sp>
      <p:sp>
        <p:nvSpPr>
          <p:cNvPr id="9" name="TextBox 8"/>
          <p:cNvSpPr txBox="1"/>
          <p:nvPr/>
        </p:nvSpPr>
        <p:spPr>
          <a:xfrm>
            <a:off x="1032357" y="123444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Create Table for Audit Log Archiving</a:t>
            </a:r>
          </a:p>
          <a:p>
            <a:pPr>
              <a:spcBef>
                <a:spcPts val="50"/>
              </a:spcBef>
              <a:spcAft>
                <a:spcPts val="0"/>
              </a:spcAft>
            </a:pPr>
            <a:r>
              <a:rPr sz="950">
                <a:solidFill>
                  <a:srgbClr val="0D2B52"/>
                </a:solidFill>
                <a:latin typeface="Times New Roman"/>
              </a:rPr>
              <a:t>CREATE TABLE IF NOT EXISTS cancelled_bookings_log (</a:t>
            </a:r>
          </a:p>
          <a:p>
            <a:pPr>
              <a:spcBef>
                <a:spcPts val="50"/>
              </a:spcBef>
              <a:spcAft>
                <a:spcPts val="0"/>
              </a:spcAft>
            </a:pPr>
            <a:r>
              <a:rPr sz="950">
                <a:solidFill>
                  <a:srgbClr val="0D2B52"/>
                </a:solidFill>
                <a:latin typeface="Times New Roman"/>
              </a:rPr>
              <a:t>    log_id      INTEGER PRIMARY KEY AUTOINCREMENT,</a:t>
            </a:r>
          </a:p>
          <a:p>
            <a:pPr>
              <a:spcBef>
                <a:spcPts val="50"/>
              </a:spcBef>
              <a:spcAft>
                <a:spcPts val="0"/>
              </a:spcAft>
            </a:pPr>
            <a:r>
              <a:rPr sz="950">
                <a:solidFill>
                  <a:srgbClr val="0D2B52"/>
                </a:solidFill>
                <a:latin typeface="Times New Roman"/>
              </a:rPr>
              <a:t>    booking_id  INTEGER,</a:t>
            </a:r>
          </a:p>
          <a:p>
            <a:pPr>
              <a:spcBef>
                <a:spcPts val="50"/>
              </a:spcBef>
              <a:spcAft>
                <a:spcPts val="0"/>
              </a:spcAft>
            </a:pPr>
            <a:r>
              <a:rPr sz="950">
                <a:solidFill>
                  <a:srgbClr val="0D2B52"/>
                </a:solidFill>
                <a:latin typeface="Times New Roman"/>
              </a:rPr>
              <a:t>    user_id     INTEGER,</a:t>
            </a:r>
          </a:p>
          <a:p>
            <a:pPr>
              <a:spcBef>
                <a:spcPts val="50"/>
              </a:spcBef>
              <a:spcAft>
                <a:spcPts val="0"/>
              </a:spcAft>
            </a:pPr>
            <a:r>
              <a:rPr sz="950">
                <a:solidFill>
                  <a:srgbClr val="0D2B52"/>
                </a:solidFill>
                <a:latin typeface="Times New Roman"/>
              </a:rPr>
              <a:t>    train_id    INTEGER,</a:t>
            </a:r>
          </a:p>
          <a:p>
            <a:pPr>
              <a:spcBef>
                <a:spcPts val="50"/>
              </a:spcBef>
              <a:spcAft>
                <a:spcPts val="0"/>
              </a:spcAft>
            </a:pPr>
            <a:r>
              <a:rPr sz="950">
                <a:solidFill>
                  <a:srgbClr val="0D2B52"/>
                </a:solidFill>
                <a:latin typeface="Times New Roman"/>
              </a:rPr>
              <a:t>    seat_number TEXT,</a:t>
            </a:r>
          </a:p>
          <a:p>
            <a:pPr>
              <a:spcBef>
                <a:spcPts val="50"/>
              </a:spcBef>
              <a:spcAft>
                <a:spcPts val="0"/>
              </a:spcAft>
            </a:pPr>
            <a:r>
              <a:rPr sz="950">
                <a:solidFill>
                  <a:srgbClr val="0D2B52"/>
                </a:solidFill>
                <a:latin typeface="Times New Roman"/>
              </a:rPr>
              <a:t>    cancelled_at DATETIME DEFAULT CURRENT_TIMESTAMP</a:t>
            </a:r>
          </a:p>
          <a:p>
            <a:pPr>
              <a:spcBef>
                <a:spcPts val="50"/>
              </a:spcBef>
              <a:spcAft>
                <a:spcPts val="0"/>
              </a:spcAft>
            </a:pPr>
            <a:r>
              <a:rPr sz="950">
                <a:solidFill>
                  <a:srgbClr val="0D2B52"/>
                </a:solidFill>
                <a:latin typeface="Times New Roman"/>
              </a:rPr>
              <a:t>);</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Trigger 2: Auto-Log Cancellations (Audit Trail)</a:t>
            </a:r>
          </a:p>
          <a:p>
            <a:pPr>
              <a:spcBef>
                <a:spcPts val="50"/>
              </a:spcBef>
              <a:spcAft>
                <a:spcPts val="0"/>
              </a:spcAft>
            </a:pPr>
            <a:r>
              <a:rPr sz="950">
                <a:solidFill>
                  <a:srgbClr val="0D2B52"/>
                </a:solidFill>
                <a:latin typeface="Times New Roman"/>
              </a:rPr>
              <a:t>-- Triggered whenever a booking's status changes to 'cancelled'</a:t>
            </a:r>
          </a:p>
          <a:p>
            <a:pPr>
              <a:spcBef>
                <a:spcPts val="50"/>
              </a:spcBef>
              <a:spcAft>
                <a:spcPts val="0"/>
              </a:spcAft>
            </a:pPr>
            <a:r>
              <a:rPr sz="950">
                <a:solidFill>
                  <a:srgbClr val="0D2B52"/>
                </a:solidFill>
                <a:latin typeface="Times New Roman"/>
              </a:rPr>
              <a:t>CREATE TRIGGER IF NOT EXISTS log_cancellation</a:t>
            </a:r>
          </a:p>
          <a:p>
            <a:pPr>
              <a:spcBef>
                <a:spcPts val="50"/>
              </a:spcBef>
              <a:spcAft>
                <a:spcPts val="0"/>
              </a:spcAft>
            </a:pPr>
            <a:r>
              <a:rPr sz="950">
                <a:solidFill>
                  <a:srgbClr val="0D2B52"/>
                </a:solidFill>
                <a:latin typeface="Times New Roman"/>
              </a:rPr>
              <a:t>AFTER UPDATE ON bookings</a:t>
            </a:r>
          </a:p>
          <a:p>
            <a:pPr>
              <a:spcBef>
                <a:spcPts val="50"/>
              </a:spcBef>
              <a:spcAft>
                <a:spcPts val="0"/>
              </a:spcAft>
            </a:pPr>
            <a:r>
              <a:rPr sz="950">
                <a:solidFill>
                  <a:srgbClr val="0D2B52"/>
                </a:solidFill>
                <a:latin typeface="Times New Roman"/>
              </a:rPr>
              <a:t>FOR EACH ROW</a:t>
            </a:r>
          </a:p>
          <a:p>
            <a:pPr>
              <a:spcBef>
                <a:spcPts val="50"/>
              </a:spcBef>
              <a:spcAft>
                <a:spcPts val="0"/>
              </a:spcAft>
            </a:pPr>
            <a:r>
              <a:rPr sz="950">
                <a:solidFill>
                  <a:srgbClr val="0D2B52"/>
                </a:solidFill>
                <a:latin typeface="Times New Roman"/>
              </a:rPr>
              <a:t>WHEN NEW.status = 'cancelled' AND OLD.status = 'confirmed'</a:t>
            </a:r>
          </a:p>
          <a:p>
            <a:pPr>
              <a:spcBef>
                <a:spcPts val="50"/>
              </a:spcBef>
              <a:spcAft>
                <a:spcPts val="0"/>
              </a:spcAft>
            </a:pPr>
            <a:r>
              <a:rPr sz="950">
                <a:solidFill>
                  <a:srgbClr val="0D2B52"/>
                </a:solidFill>
                <a:latin typeface="Times New Roman"/>
              </a:rPr>
              <a:t>BEGIN</a:t>
            </a:r>
          </a:p>
          <a:p>
            <a:pPr>
              <a:spcBef>
                <a:spcPts val="50"/>
              </a:spcBef>
              <a:spcAft>
                <a:spcPts val="0"/>
              </a:spcAft>
            </a:pPr>
            <a:r>
              <a:rPr sz="950">
                <a:solidFill>
                  <a:srgbClr val="0D2B52"/>
                </a:solidFill>
                <a:latin typeface="Times New Roman"/>
              </a:rPr>
              <a:t>    INSERT INTO cancelled_bookings_log (booking_id, user_id, train_id, seat_number)</a:t>
            </a:r>
          </a:p>
          <a:p>
            <a:pPr>
              <a:spcBef>
                <a:spcPts val="50"/>
              </a:spcBef>
              <a:spcAft>
                <a:spcPts val="0"/>
              </a:spcAft>
            </a:pPr>
            <a:r>
              <a:rPr sz="950">
                <a:solidFill>
                  <a:srgbClr val="0D2B52"/>
                </a:solidFill>
                <a:latin typeface="Times New Roman"/>
              </a:rPr>
              <a:t>    VALUES (OLD.id, OLD.user_id, OLD.train_id, OLD.seat_number);</a:t>
            </a:r>
          </a:p>
          <a:p>
            <a:pPr>
              <a:spcBef>
                <a:spcPts val="50"/>
              </a:spcBef>
              <a:spcAft>
                <a:spcPts val="0"/>
              </a:spcAft>
            </a:pPr>
            <a:r>
              <a:rPr sz="950">
                <a:solidFill>
                  <a:srgbClr val="0D2B52"/>
                </a:solidFill>
                <a:latin typeface="Times New Roman"/>
              </a:rPr>
              <a:t>END;</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Trigger 3: Automatic Booking Timestamp Initializer</a:t>
            </a:r>
          </a:p>
          <a:p>
            <a:pPr>
              <a:spcBef>
                <a:spcPts val="50"/>
              </a:spcBef>
              <a:spcAft>
                <a:spcPts val="0"/>
              </a:spcAft>
            </a:pPr>
            <a:r>
              <a:rPr sz="950">
                <a:solidFill>
                  <a:srgbClr val="0D2B52"/>
                </a:solidFill>
                <a:latin typeface="Times New Roman"/>
              </a:rPr>
              <a:t>CREATE TRIGGER IF NOT EXISTS set_booking_date</a:t>
            </a:r>
          </a:p>
          <a:p>
            <a:pPr>
              <a:spcBef>
                <a:spcPts val="50"/>
              </a:spcBef>
              <a:spcAft>
                <a:spcPts val="0"/>
              </a:spcAft>
            </a:pPr>
            <a:r>
              <a:rPr sz="950">
                <a:solidFill>
                  <a:srgbClr val="0D2B52"/>
                </a:solidFill>
                <a:latin typeface="Times New Roman"/>
              </a:rPr>
              <a:t>AFTER INSERT ON bookings</a:t>
            </a:r>
          </a:p>
          <a:p>
            <a:pPr>
              <a:spcBef>
                <a:spcPts val="50"/>
              </a:spcBef>
              <a:spcAft>
                <a:spcPts val="0"/>
              </a:spcAft>
            </a:pPr>
            <a:r>
              <a:rPr sz="950">
                <a:solidFill>
                  <a:srgbClr val="0D2B52"/>
                </a:solidFill>
                <a:latin typeface="Times New Roman"/>
              </a:rPr>
              <a:t>FOR EACH ROW</a:t>
            </a:r>
          </a:p>
          <a:p>
            <a:pPr>
              <a:spcBef>
                <a:spcPts val="50"/>
              </a:spcBef>
              <a:spcAft>
                <a:spcPts val="0"/>
              </a:spcAft>
            </a:pPr>
            <a:r>
              <a:rPr sz="950">
                <a:solidFill>
                  <a:srgbClr val="0D2B52"/>
                </a:solidFill>
                <a:latin typeface="Times New Roman"/>
              </a:rPr>
              <a:t>WHEN NEW.booking_date IS NULL</a:t>
            </a:r>
          </a:p>
          <a:p>
            <a:pPr>
              <a:spcBef>
                <a:spcPts val="50"/>
              </a:spcBef>
              <a:spcAft>
                <a:spcPts val="0"/>
              </a:spcAft>
            </a:pPr>
            <a:r>
              <a:rPr sz="950">
                <a:solidFill>
                  <a:srgbClr val="0D2B52"/>
                </a:solidFill>
                <a:latin typeface="Times New Roman"/>
              </a:rPr>
              <a:t>BEGIN</a:t>
            </a:r>
          </a:p>
          <a:p>
            <a:pPr>
              <a:spcBef>
                <a:spcPts val="50"/>
              </a:spcBef>
              <a:spcAft>
                <a:spcPts val="0"/>
              </a:spcAft>
            </a:pPr>
            <a:r>
              <a:rPr sz="950">
                <a:solidFill>
                  <a:srgbClr val="0D2B52"/>
                </a:solidFill>
                <a:latin typeface="Times New Roman"/>
              </a:rPr>
              <a:t>    UPDATE bookings SET booking_date = CURRENT_TIMESTAMP WHERE id = NEW.id;</a:t>
            </a:r>
          </a:p>
          <a:p>
            <a:pPr>
              <a:spcBef>
                <a:spcPts val="50"/>
              </a:spcBef>
              <a:spcAft>
                <a:spcPts val="0"/>
              </a:spcAft>
            </a:pPr>
            <a:r>
              <a:rPr sz="950">
                <a:solidFill>
                  <a:srgbClr val="0D2B52"/>
                </a:solidFill>
                <a:latin typeface="Times New Roman"/>
              </a:rPr>
              <a:t>END;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17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74320"/>
          </a:xfrm>
          <a:prstGeom prst="rect">
            <a:avLst/>
          </a:prstGeom>
          <a:noFill/>
        </p:spPr>
        <p:txBody>
          <a:bodyPr wrap="square">
            <a:spAutoFit/>
          </a:bodyPr>
          <a:lstStyle/>
          <a:p>
            <a:pPr>
              <a:spcBef>
                <a:spcPts val="100"/>
              </a:spcBef>
            </a:pPr>
            <a:r>
              <a:rPr sz="1400" b="1">
                <a:latin typeface="Times New Roman"/>
              </a:rPr>
              <a:t>3.4 VIEWS</a:t>
            </a:r>
          </a:p>
        </p:txBody>
      </p:sp>
      <p:sp>
        <p:nvSpPr>
          <p:cNvPr id="9" name="TextBox 8"/>
          <p:cNvSpPr txBox="1"/>
          <p:nvPr/>
        </p:nvSpPr>
        <p:spPr>
          <a:xfrm>
            <a:off x="1032357" y="1234440"/>
            <a:ext cx="5747918" cy="228600"/>
          </a:xfrm>
          <a:prstGeom prst="rect">
            <a:avLst/>
          </a:prstGeom>
          <a:noFill/>
        </p:spPr>
        <p:txBody>
          <a:bodyPr wrap="square">
            <a:spAutoFit/>
          </a:bodyPr>
          <a:lstStyle/>
          <a:p>
            <a:pPr>
              <a:spcBef>
                <a:spcPts val="100"/>
              </a:spcBef>
            </a:pPr>
            <a:r>
              <a:rPr sz="1200" b="1">
                <a:solidFill>
                  <a:srgbClr val="1F477B"/>
                </a:solidFill>
                <a:latin typeface="Times New Roman"/>
              </a:rPr>
              <a:t>SQL DATABASE VIEWS FOR SIMPLIFIED REPORTING</a:t>
            </a:r>
          </a:p>
        </p:txBody>
      </p:sp>
      <p:sp>
        <p:nvSpPr>
          <p:cNvPr id="10" name="TextBox 9"/>
          <p:cNvSpPr txBox="1"/>
          <p:nvPr/>
        </p:nvSpPr>
        <p:spPr>
          <a:xfrm>
            <a:off x="1032357" y="150876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View 1: Active Bookings with Passenger &amp; Train Details</a:t>
            </a:r>
          </a:p>
          <a:p>
            <a:pPr>
              <a:spcBef>
                <a:spcPts val="50"/>
              </a:spcBef>
              <a:spcAft>
                <a:spcPts val="0"/>
              </a:spcAft>
            </a:pPr>
            <a:r>
              <a:rPr sz="950">
                <a:solidFill>
                  <a:srgbClr val="0D2B52"/>
                </a:solidFill>
                <a:latin typeface="Times New Roman"/>
              </a:rPr>
              <a:t>-- Merges three tables to generate standard passenger e-tickets</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CREATE VIEW IF NOT EXISTS active_booking_details AS</a:t>
            </a:r>
          </a:p>
          <a:p>
            <a:pPr>
              <a:spcBef>
                <a:spcPts val="50"/>
              </a:spcBef>
              <a:spcAft>
                <a:spcPts val="0"/>
              </a:spcAft>
            </a:pPr>
            <a:r>
              <a:rPr sz="950">
                <a:solidFill>
                  <a:srgbClr val="0D2B52"/>
                </a:solidFill>
                <a:latin typeface="Times New Roman"/>
              </a:rPr>
              <a:t>SELECT</a:t>
            </a:r>
          </a:p>
          <a:p>
            <a:pPr>
              <a:spcBef>
                <a:spcPts val="50"/>
              </a:spcBef>
              <a:spcAft>
                <a:spcPts val="0"/>
              </a:spcAft>
            </a:pPr>
            <a:r>
              <a:rPr sz="950">
                <a:solidFill>
                  <a:srgbClr val="0D2B52"/>
                </a:solidFill>
                <a:latin typeface="Times New Roman"/>
              </a:rPr>
              <a:t>    b.id            AS booking_id,</a:t>
            </a:r>
          </a:p>
          <a:p>
            <a:pPr>
              <a:spcBef>
                <a:spcPts val="50"/>
              </a:spcBef>
              <a:spcAft>
                <a:spcPts val="0"/>
              </a:spcAft>
            </a:pPr>
            <a:r>
              <a:rPr sz="950">
                <a:solidFill>
                  <a:srgbClr val="0D2B52"/>
                </a:solidFill>
                <a:latin typeface="Times New Roman"/>
              </a:rPr>
              <a:t>    u.name          AS passenger_name,</a:t>
            </a:r>
          </a:p>
          <a:p>
            <a:pPr>
              <a:spcBef>
                <a:spcPts val="50"/>
              </a:spcBef>
              <a:spcAft>
                <a:spcPts val="0"/>
              </a:spcAft>
            </a:pPr>
            <a:r>
              <a:rPr sz="950">
                <a:solidFill>
                  <a:srgbClr val="0D2B52"/>
                </a:solidFill>
                <a:latin typeface="Times New Roman"/>
              </a:rPr>
              <a:t>    u.email         AS passenger_email,</a:t>
            </a:r>
          </a:p>
          <a:p>
            <a:pPr>
              <a:spcBef>
                <a:spcPts val="50"/>
              </a:spcBef>
              <a:spcAft>
                <a:spcPts val="0"/>
              </a:spcAft>
            </a:pPr>
            <a:r>
              <a:rPr sz="950">
                <a:solidFill>
                  <a:srgbClr val="0D2B52"/>
                </a:solidFill>
                <a:latin typeface="Times New Roman"/>
              </a:rPr>
              <a:t>    t.train_number,</a:t>
            </a:r>
          </a:p>
          <a:p>
            <a:pPr>
              <a:spcBef>
                <a:spcPts val="50"/>
              </a:spcBef>
              <a:spcAft>
                <a:spcPts val="0"/>
              </a:spcAft>
            </a:pPr>
            <a:r>
              <a:rPr sz="950">
                <a:solidFill>
                  <a:srgbClr val="0D2B52"/>
                </a:solidFill>
                <a:latin typeface="Times New Roman"/>
              </a:rPr>
              <a:t>    t.name          AS train_name,</a:t>
            </a:r>
          </a:p>
          <a:p>
            <a:pPr>
              <a:spcBef>
                <a:spcPts val="50"/>
              </a:spcBef>
              <a:spcAft>
                <a:spcPts val="0"/>
              </a:spcAft>
            </a:pPr>
            <a:r>
              <a:rPr sz="950">
                <a:solidFill>
                  <a:srgbClr val="0D2B52"/>
                </a:solidFill>
                <a:latin typeface="Times New Roman"/>
              </a:rPr>
              <a:t>    t.source,</a:t>
            </a:r>
          </a:p>
          <a:p>
            <a:pPr>
              <a:spcBef>
                <a:spcPts val="50"/>
              </a:spcBef>
              <a:spcAft>
                <a:spcPts val="0"/>
              </a:spcAft>
            </a:pPr>
            <a:r>
              <a:rPr sz="950">
                <a:solidFill>
                  <a:srgbClr val="0D2B52"/>
                </a:solidFill>
                <a:latin typeface="Times New Roman"/>
              </a:rPr>
              <a:t>    t.destination,</a:t>
            </a:r>
          </a:p>
          <a:p>
            <a:pPr>
              <a:spcBef>
                <a:spcPts val="50"/>
              </a:spcBef>
              <a:spcAft>
                <a:spcPts val="0"/>
              </a:spcAft>
            </a:pPr>
            <a:r>
              <a:rPr sz="950">
                <a:solidFill>
                  <a:srgbClr val="0D2B52"/>
                </a:solidFill>
                <a:latin typeface="Times New Roman"/>
              </a:rPr>
              <a:t>    t.departure_time,</a:t>
            </a:r>
          </a:p>
          <a:p>
            <a:pPr>
              <a:spcBef>
                <a:spcPts val="50"/>
              </a:spcBef>
              <a:spcAft>
                <a:spcPts val="0"/>
              </a:spcAft>
            </a:pPr>
            <a:r>
              <a:rPr sz="950">
                <a:solidFill>
                  <a:srgbClr val="0D2B52"/>
                </a:solidFill>
                <a:latin typeface="Times New Roman"/>
              </a:rPr>
              <a:t>    t.arrival_time,</a:t>
            </a:r>
          </a:p>
          <a:p>
            <a:pPr>
              <a:spcBef>
                <a:spcPts val="50"/>
              </a:spcBef>
              <a:spcAft>
                <a:spcPts val="0"/>
              </a:spcAft>
            </a:pPr>
            <a:r>
              <a:rPr sz="950">
                <a:solidFill>
                  <a:srgbClr val="0D2B52"/>
                </a:solidFill>
                <a:latin typeface="Times New Roman"/>
              </a:rPr>
              <a:t>    b.seat_number,</a:t>
            </a:r>
          </a:p>
          <a:p>
            <a:pPr>
              <a:spcBef>
                <a:spcPts val="50"/>
              </a:spcBef>
              <a:spcAft>
                <a:spcPts val="0"/>
              </a:spcAft>
            </a:pPr>
            <a:r>
              <a:rPr sz="950">
                <a:solidFill>
                  <a:srgbClr val="0D2B52"/>
                </a:solidFill>
                <a:latin typeface="Times New Roman"/>
              </a:rPr>
              <a:t>    b.travel_date,</a:t>
            </a:r>
          </a:p>
          <a:p>
            <a:pPr>
              <a:spcBef>
                <a:spcPts val="50"/>
              </a:spcBef>
              <a:spcAft>
                <a:spcPts val="0"/>
              </a:spcAft>
            </a:pPr>
            <a:r>
              <a:rPr sz="950">
                <a:solidFill>
                  <a:srgbClr val="0D2B52"/>
                </a:solidFill>
                <a:latin typeface="Times New Roman"/>
              </a:rPr>
              <a:t>    t.price_base    AS fare</a:t>
            </a:r>
          </a:p>
          <a:p>
            <a:pPr>
              <a:spcBef>
                <a:spcPts val="50"/>
              </a:spcBef>
              <a:spcAft>
                <a:spcPts val="0"/>
              </a:spcAft>
            </a:pPr>
            <a:r>
              <a:rPr sz="950">
                <a:solidFill>
                  <a:srgbClr val="0D2B52"/>
                </a:solidFill>
                <a:latin typeface="Times New Roman"/>
              </a:rPr>
              <a:t>FROM bookings b</a:t>
            </a:r>
          </a:p>
          <a:p>
            <a:pPr>
              <a:spcBef>
                <a:spcPts val="50"/>
              </a:spcBef>
              <a:spcAft>
                <a:spcPts val="0"/>
              </a:spcAft>
            </a:pPr>
            <a:r>
              <a:rPr sz="950">
                <a:solidFill>
                  <a:srgbClr val="0D2B52"/>
                </a:solidFill>
                <a:latin typeface="Times New Roman"/>
              </a:rPr>
              <a:t>JOIN users u ON b.user_id = u.id</a:t>
            </a:r>
          </a:p>
          <a:p>
            <a:pPr>
              <a:spcBef>
                <a:spcPts val="50"/>
              </a:spcBef>
              <a:spcAft>
                <a:spcPts val="0"/>
              </a:spcAft>
            </a:pPr>
            <a:r>
              <a:rPr sz="950">
                <a:solidFill>
                  <a:srgbClr val="0D2B52"/>
                </a:solidFill>
                <a:latin typeface="Times New Roman"/>
              </a:rPr>
              <a:t>JOIN trains t ON b.train_id = t.id</a:t>
            </a:r>
          </a:p>
          <a:p>
            <a:pPr>
              <a:spcBef>
                <a:spcPts val="50"/>
              </a:spcBef>
              <a:spcAft>
                <a:spcPts val="0"/>
              </a:spcAft>
            </a:pPr>
            <a:r>
              <a:rPr sz="950">
                <a:solidFill>
                  <a:srgbClr val="0D2B52"/>
                </a:solidFill>
                <a:latin typeface="Times New Roman"/>
              </a:rPr>
              <a:t>WHERE b.status = 'confirmed';</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View 2: Train Seat Availability Summary</a:t>
            </a:r>
          </a:p>
          <a:p>
            <a:pPr>
              <a:spcBef>
                <a:spcPts val="50"/>
              </a:spcBef>
              <a:spcAft>
                <a:spcPts val="0"/>
              </a:spcAft>
            </a:pPr>
            <a:r>
              <a:rPr sz="950">
                <a:solidFill>
                  <a:srgbClr val="0D2B52"/>
                </a:solidFill>
                <a:latin typeface="Times New Roman"/>
              </a:rPr>
              <a:t>CREATE VIEW IF NOT EXISTS train_occupancy AS</a:t>
            </a:r>
          </a:p>
          <a:p>
            <a:pPr>
              <a:spcBef>
                <a:spcPts val="50"/>
              </a:spcBef>
              <a:spcAft>
                <a:spcPts val="0"/>
              </a:spcAft>
            </a:pPr>
            <a:r>
              <a:rPr sz="950">
                <a:solidFill>
                  <a:srgbClr val="0D2B52"/>
                </a:solidFill>
                <a:latin typeface="Times New Roman"/>
              </a:rPr>
              <a:t>SELECT</a:t>
            </a:r>
          </a:p>
          <a:p>
            <a:pPr>
              <a:spcBef>
                <a:spcPts val="50"/>
              </a:spcBef>
              <a:spcAft>
                <a:spcPts val="0"/>
              </a:spcAft>
            </a:pPr>
            <a:r>
              <a:rPr sz="950">
                <a:solidFill>
                  <a:srgbClr val="0D2B52"/>
                </a:solidFill>
                <a:latin typeface="Times New Roman"/>
              </a:rPr>
              <a:t>    t.id, t.train_number, t.name, t.source, t.destination, t.total_seats,</a:t>
            </a:r>
          </a:p>
          <a:p>
            <a:pPr>
              <a:spcBef>
                <a:spcPts val="50"/>
              </a:spcBef>
              <a:spcAft>
                <a:spcPts val="0"/>
              </a:spcAft>
            </a:pPr>
            <a:r>
              <a:rPr sz="950">
                <a:solidFill>
                  <a:srgbClr val="0D2B52"/>
                </a:solidFill>
                <a:latin typeface="Times New Roman"/>
              </a:rPr>
              <a:t>    COUNT(b.id) AS booked_seats,</a:t>
            </a:r>
          </a:p>
          <a:p>
            <a:pPr>
              <a:spcBef>
                <a:spcPts val="50"/>
              </a:spcBef>
              <a:spcAft>
                <a:spcPts val="0"/>
              </a:spcAft>
            </a:pPr>
            <a:r>
              <a:rPr sz="950">
                <a:solidFill>
                  <a:srgbClr val="0D2B52"/>
                </a:solidFill>
                <a:latin typeface="Times New Roman"/>
              </a:rPr>
              <a:t>    (t.total_seats - COUNT(b.id)) AS available_seats</a:t>
            </a:r>
          </a:p>
          <a:p>
            <a:pPr>
              <a:spcBef>
                <a:spcPts val="50"/>
              </a:spcBef>
              <a:spcAft>
                <a:spcPts val="0"/>
              </a:spcAft>
            </a:pPr>
            <a:r>
              <a:rPr sz="950">
                <a:solidFill>
                  <a:srgbClr val="0D2B52"/>
                </a:solidFill>
                <a:latin typeface="Times New Roman"/>
              </a:rPr>
              <a:t>FROM trains t</a:t>
            </a:r>
          </a:p>
          <a:p>
            <a:pPr>
              <a:spcBef>
                <a:spcPts val="50"/>
              </a:spcBef>
              <a:spcAft>
                <a:spcPts val="0"/>
              </a:spcAft>
            </a:pPr>
            <a:r>
              <a:rPr sz="950">
                <a:solidFill>
                  <a:srgbClr val="0D2B52"/>
                </a:solidFill>
                <a:latin typeface="Times New Roman"/>
              </a:rPr>
              <a:t>LEFT JOIN bookings b ON t.id = b.train_id AND b.status = 'confirmed'</a:t>
            </a:r>
          </a:p>
          <a:p>
            <a:pPr>
              <a:spcBef>
                <a:spcPts val="50"/>
              </a:spcBef>
              <a:spcAft>
                <a:spcPts val="0"/>
              </a:spcAft>
            </a:pPr>
            <a:r>
              <a:rPr sz="950">
                <a:solidFill>
                  <a:srgbClr val="0D2B52"/>
                </a:solidFill>
                <a:latin typeface="Times New Roman"/>
              </a:rPr>
              <a:t>GROUP BY t.id;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18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74320"/>
          </a:xfrm>
          <a:prstGeom prst="rect">
            <a:avLst/>
          </a:prstGeom>
          <a:noFill/>
        </p:spPr>
        <p:txBody>
          <a:bodyPr wrap="square">
            <a:spAutoFit/>
          </a:bodyPr>
          <a:lstStyle/>
          <a:p>
            <a:pPr>
              <a:spcBef>
                <a:spcPts val="100"/>
              </a:spcBef>
            </a:pPr>
            <a:r>
              <a:rPr sz="1400" b="1">
                <a:latin typeface="Times New Roman"/>
              </a:rPr>
              <a:t>3.5 BACKEND IMPLEMENTATION</a:t>
            </a:r>
          </a:p>
        </p:txBody>
      </p:sp>
      <p:sp>
        <p:nvSpPr>
          <p:cNvPr id="9" name="TextBox 8"/>
          <p:cNvSpPr txBox="1"/>
          <p:nvPr/>
        </p:nvSpPr>
        <p:spPr>
          <a:xfrm>
            <a:off x="1032357" y="1234440"/>
            <a:ext cx="5747918" cy="228600"/>
          </a:xfrm>
          <a:prstGeom prst="rect">
            <a:avLst/>
          </a:prstGeom>
          <a:noFill/>
        </p:spPr>
        <p:txBody>
          <a:bodyPr wrap="square">
            <a:spAutoFit/>
          </a:bodyPr>
          <a:lstStyle/>
          <a:p>
            <a:pPr>
              <a:spcBef>
                <a:spcPts val="100"/>
              </a:spcBef>
            </a:pPr>
            <a:r>
              <a:rPr sz="1200" b="1">
                <a:solidFill>
                  <a:srgbClr val="1F477B"/>
                </a:solidFill>
                <a:latin typeface="Times New Roman"/>
              </a:rPr>
              <a:t>DATABASE CONNECTION INTERFACE (backend/database.js)</a:t>
            </a:r>
          </a:p>
        </p:txBody>
      </p:sp>
      <p:sp>
        <p:nvSpPr>
          <p:cNvPr id="10" name="TextBox 9"/>
          <p:cNvSpPr txBox="1"/>
          <p:nvPr/>
        </p:nvSpPr>
        <p:spPr>
          <a:xfrm>
            <a:off x="1032357" y="150876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database.js - Establishes SQLite relational connection</a:t>
            </a:r>
          </a:p>
          <a:p>
            <a:pPr>
              <a:spcBef>
                <a:spcPts val="50"/>
              </a:spcBef>
              <a:spcAft>
                <a:spcPts val="0"/>
              </a:spcAft>
            </a:pPr>
            <a:r>
              <a:rPr sz="950">
                <a:solidFill>
                  <a:srgbClr val="0D2B52"/>
                </a:solidFill>
                <a:latin typeface="Times New Roman"/>
              </a:rPr>
              <a:t>// and automatically loads tables, schema structures, and seeds</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const sqlite3 = require('sqlite3').verbose();</a:t>
            </a:r>
          </a:p>
          <a:p>
            <a:pPr>
              <a:spcBef>
                <a:spcPts val="50"/>
              </a:spcBef>
              <a:spcAft>
                <a:spcPts val="0"/>
              </a:spcAft>
            </a:pPr>
            <a:r>
              <a:rPr sz="950">
                <a:solidFill>
                  <a:srgbClr val="0D2B52"/>
                </a:solidFill>
                <a:latin typeface="Times New Roman"/>
              </a:rPr>
              <a:t>const fs = require('fs');</a:t>
            </a:r>
          </a:p>
          <a:p>
            <a:pPr>
              <a:spcBef>
                <a:spcPts val="50"/>
              </a:spcBef>
              <a:spcAft>
                <a:spcPts val="0"/>
              </a:spcAft>
            </a:pPr>
            <a:r>
              <a:rPr sz="950">
                <a:solidFill>
                  <a:srgbClr val="0D2B52"/>
                </a:solidFill>
                <a:latin typeface="Times New Roman"/>
              </a:rPr>
              <a:t>const path = require('path');</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Resolve database file path</a:t>
            </a:r>
          </a:p>
          <a:p>
            <a:pPr>
              <a:spcBef>
                <a:spcPts val="50"/>
              </a:spcBef>
              <a:spcAft>
                <a:spcPts val="0"/>
              </a:spcAft>
            </a:pPr>
            <a:r>
              <a:rPr sz="950">
                <a:solidFill>
                  <a:srgbClr val="0D2B52"/>
                </a:solidFill>
                <a:latin typeface="Times New Roman"/>
              </a:rPr>
              <a:t>const dbPath = path.resolve(__dirname, 'railway.db');</a:t>
            </a:r>
          </a:p>
          <a:p>
            <a:pPr>
              <a:spcBef>
                <a:spcPts val="50"/>
              </a:spcBef>
              <a:spcAft>
                <a:spcPts val="0"/>
              </a:spcAft>
            </a:pPr>
            <a:r>
              <a:rPr sz="950">
                <a:solidFill>
                  <a:srgbClr val="0D2B52"/>
                </a:solidFill>
                <a:latin typeface="Times New Roman"/>
              </a:rPr>
              <a:t>const db = new sqlite3.Database(dbPath);</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Read SQL Schema definitions (DDL)</a:t>
            </a:r>
          </a:p>
          <a:p>
            <a:pPr>
              <a:spcBef>
                <a:spcPts val="50"/>
              </a:spcBef>
              <a:spcAft>
                <a:spcPts val="0"/>
              </a:spcAft>
            </a:pPr>
            <a:r>
              <a:rPr sz="950">
                <a:solidFill>
                  <a:srgbClr val="0D2B52"/>
                </a:solidFill>
                <a:latin typeface="Times New Roman"/>
              </a:rPr>
              <a:t>const schema = fs.readFileSync(path.resolve(__dirname, 'schema.sql'), 'utf8');</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Initialize database dynamically</a:t>
            </a:r>
          </a:p>
          <a:p>
            <a:pPr>
              <a:spcBef>
                <a:spcPts val="50"/>
              </a:spcBef>
              <a:spcAft>
                <a:spcPts val="0"/>
              </a:spcAft>
            </a:pPr>
            <a:r>
              <a:rPr sz="950">
                <a:solidFill>
                  <a:srgbClr val="0D2B52"/>
                </a:solidFill>
                <a:latin typeface="Times New Roman"/>
              </a:rPr>
              <a:t>db.serialize(() =&gt; {</a:t>
            </a:r>
          </a:p>
          <a:p>
            <a:pPr>
              <a:spcBef>
                <a:spcPts val="50"/>
              </a:spcBef>
              <a:spcAft>
                <a:spcPts val="0"/>
              </a:spcAft>
            </a:pPr>
            <a:r>
              <a:rPr sz="950">
                <a:solidFill>
                  <a:srgbClr val="0D2B52"/>
                </a:solidFill>
                <a:latin typeface="Times New Roman"/>
              </a:rPr>
              <a:t>    db.exec(schema, (err) =&gt; {</a:t>
            </a:r>
          </a:p>
          <a:p>
            <a:pPr>
              <a:spcBef>
                <a:spcPts val="50"/>
              </a:spcBef>
              <a:spcAft>
                <a:spcPts val="0"/>
              </a:spcAft>
            </a:pPr>
            <a:r>
              <a:rPr sz="950">
                <a:solidFill>
                  <a:srgbClr val="0D2B52"/>
                </a:solidFill>
                <a:latin typeface="Times New Roman"/>
              </a:rPr>
              <a:t>        if (err) {</a:t>
            </a:r>
          </a:p>
          <a:p>
            <a:pPr>
              <a:spcBef>
                <a:spcPts val="50"/>
              </a:spcBef>
              <a:spcAft>
                <a:spcPts val="0"/>
              </a:spcAft>
            </a:pPr>
            <a:r>
              <a:rPr sz="950">
                <a:solidFill>
                  <a:srgbClr val="0D2B52"/>
                </a:solidFill>
                <a:latin typeface="Times New Roman"/>
              </a:rPr>
              <a:t>            console.error('Error initializing database:', err);</a:t>
            </a:r>
          </a:p>
          <a:p>
            <a:pPr>
              <a:spcBef>
                <a:spcPts val="50"/>
              </a:spcBef>
              <a:spcAft>
                <a:spcPts val="0"/>
              </a:spcAft>
            </a:pPr>
            <a:r>
              <a:rPr sz="950">
                <a:solidFill>
                  <a:srgbClr val="0D2B52"/>
                </a:solidFill>
                <a:latin typeface="Times New Roman"/>
              </a:rPr>
              <a:t>        } else {</a:t>
            </a:r>
          </a:p>
          <a:p>
            <a:pPr>
              <a:spcBef>
                <a:spcPts val="50"/>
              </a:spcBef>
              <a:spcAft>
                <a:spcPts val="0"/>
              </a:spcAft>
            </a:pPr>
            <a:r>
              <a:rPr sz="950">
                <a:solidFill>
                  <a:srgbClr val="0D2B52"/>
                </a:solidFill>
                <a:latin typeface="Times New Roman"/>
              </a:rPr>
              <a:t>            console.log('Database initialized successfully.');</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module.exports = db;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19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28600"/>
          </a:xfrm>
          <a:prstGeom prst="rect">
            <a:avLst/>
          </a:prstGeom>
          <a:noFill/>
        </p:spPr>
        <p:txBody>
          <a:bodyPr wrap="square">
            <a:spAutoFit/>
          </a:bodyPr>
          <a:lstStyle/>
          <a:p>
            <a:pPr>
              <a:spcBef>
                <a:spcPts val="100"/>
              </a:spcBef>
            </a:pPr>
            <a:r>
              <a:rPr sz="1200" b="1">
                <a:solidFill>
                  <a:srgbClr val="1F477B"/>
                </a:solidFill>
                <a:latin typeface="Times New Roman"/>
              </a:rPr>
              <a:t>EXPRESS BACKEND SERVER SYSTEM SETUP (backend/index.js - Part 1)</a:t>
            </a:r>
          </a:p>
        </p:txBody>
      </p:sp>
      <p:sp>
        <p:nvSpPr>
          <p:cNvPr id="9" name="TextBox 8"/>
          <p:cNvSpPr txBox="1"/>
          <p:nvPr/>
        </p:nvSpPr>
        <p:spPr>
          <a:xfrm>
            <a:off x="1032357" y="123444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index.js - Initializing Server, Middleware, CORS and Listeners</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require('dotenv').config();</a:t>
            </a:r>
          </a:p>
          <a:p>
            <a:pPr>
              <a:spcBef>
                <a:spcPts val="50"/>
              </a:spcBef>
              <a:spcAft>
                <a:spcPts val="0"/>
              </a:spcAft>
            </a:pPr>
            <a:r>
              <a:rPr sz="950">
                <a:solidFill>
                  <a:srgbClr val="0D2B52"/>
                </a:solidFill>
                <a:latin typeface="Times New Roman"/>
              </a:rPr>
              <a:t>const express = require('express');</a:t>
            </a:r>
          </a:p>
          <a:p>
            <a:pPr>
              <a:spcBef>
                <a:spcPts val="50"/>
              </a:spcBef>
              <a:spcAft>
                <a:spcPts val="0"/>
              </a:spcAft>
            </a:pPr>
            <a:r>
              <a:rPr sz="950">
                <a:solidFill>
                  <a:srgbClr val="0D2B52"/>
                </a:solidFill>
                <a:latin typeface="Times New Roman"/>
              </a:rPr>
              <a:t>const cors = require('cors');</a:t>
            </a:r>
          </a:p>
          <a:p>
            <a:pPr>
              <a:spcBef>
                <a:spcPts val="50"/>
              </a:spcBef>
              <a:spcAft>
                <a:spcPts val="0"/>
              </a:spcAft>
            </a:pPr>
            <a:r>
              <a:rPr sz="950">
                <a:solidFill>
                  <a:srgbClr val="0D2B52"/>
                </a:solidFill>
                <a:latin typeface="Times New Roman"/>
              </a:rPr>
              <a:t>const db = require('./database');</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const app = express();</a:t>
            </a:r>
          </a:p>
          <a:p>
            <a:pPr>
              <a:spcBef>
                <a:spcPts val="50"/>
              </a:spcBef>
              <a:spcAft>
                <a:spcPts val="0"/>
              </a:spcAft>
            </a:pPr>
            <a:r>
              <a:rPr sz="950">
                <a:solidFill>
                  <a:srgbClr val="0D2B52"/>
                </a:solidFill>
                <a:latin typeface="Times New Roman"/>
              </a:rPr>
              <a:t>const PORT = process.env.PORT || 5000;</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Enable Cross-Origin requests and JSON body parsing middleware</a:t>
            </a:r>
          </a:p>
          <a:p>
            <a:pPr>
              <a:spcBef>
                <a:spcPts val="50"/>
              </a:spcBef>
              <a:spcAft>
                <a:spcPts val="0"/>
              </a:spcAft>
            </a:pPr>
            <a:r>
              <a:rPr sz="950">
                <a:solidFill>
                  <a:srgbClr val="0D2B52"/>
                </a:solidFill>
                <a:latin typeface="Times New Roman"/>
              </a:rPr>
              <a:t>app.use(cors({ origin: '*' }));</a:t>
            </a:r>
          </a:p>
          <a:p>
            <a:pPr>
              <a:spcBef>
                <a:spcPts val="50"/>
              </a:spcBef>
              <a:spcAft>
                <a:spcPts val="0"/>
              </a:spcAft>
            </a:pPr>
            <a:r>
              <a:rPr sz="950">
                <a:solidFill>
                  <a:srgbClr val="0D2B52"/>
                </a:solidFill>
                <a:latin typeface="Times New Roman"/>
              </a:rPr>
              <a:t>app.use(express.json());</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Logger middleware to track active database requests</a:t>
            </a:r>
          </a:p>
          <a:p>
            <a:pPr>
              <a:spcBef>
                <a:spcPts val="50"/>
              </a:spcBef>
              <a:spcAft>
                <a:spcPts val="0"/>
              </a:spcAft>
            </a:pPr>
            <a:r>
              <a:rPr sz="950">
                <a:solidFill>
                  <a:srgbClr val="0D2B52"/>
                </a:solidFill>
                <a:latin typeface="Times New Roman"/>
              </a:rPr>
              <a:t>app.use((req, res, next) =&gt; {</a:t>
            </a:r>
          </a:p>
          <a:p>
            <a:pPr>
              <a:spcBef>
                <a:spcPts val="50"/>
              </a:spcBef>
              <a:spcAft>
                <a:spcPts val="0"/>
              </a:spcAft>
            </a:pPr>
            <a:r>
              <a:rPr sz="950">
                <a:solidFill>
                  <a:srgbClr val="0D2B52"/>
                </a:solidFill>
                <a:latin typeface="Times New Roman"/>
              </a:rPr>
              <a:t>    console.log(`${req.method} ${req.url}`, req.body);</a:t>
            </a:r>
          </a:p>
          <a:p>
            <a:pPr>
              <a:spcBef>
                <a:spcPts val="50"/>
              </a:spcBef>
              <a:spcAft>
                <a:spcPts val="0"/>
              </a:spcAft>
            </a:pPr>
            <a:r>
              <a:rPr sz="950">
                <a:solidFill>
                  <a:srgbClr val="0D2B52"/>
                </a:solidFill>
                <a:latin typeface="Times New Roman"/>
              </a:rPr>
              <a:t>    next();</a:t>
            </a:r>
          </a:p>
          <a:p>
            <a:pPr>
              <a:spcBef>
                <a:spcPts val="50"/>
              </a:spcBef>
              <a:spcAft>
                <a:spcPts val="0"/>
              </a:spcAft>
            </a:pPr>
            <a:r>
              <a:rPr sz="950">
                <a:solidFill>
                  <a:srgbClr val="0D2B52"/>
                </a:solidFill>
                <a:latin typeface="Times New Roman"/>
              </a:rPr>
              <a:t>});</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Health check endpoint</a:t>
            </a:r>
          </a:p>
          <a:p>
            <a:pPr>
              <a:spcBef>
                <a:spcPts val="50"/>
              </a:spcBef>
              <a:spcAft>
                <a:spcPts val="0"/>
              </a:spcAft>
            </a:pPr>
            <a:r>
              <a:rPr sz="950">
                <a:solidFill>
                  <a:srgbClr val="0D2B52"/>
                </a:solidFill>
                <a:latin typeface="Times New Roman"/>
              </a:rPr>
              <a:t>app.get('/api/health', (req, res) =&gt; {</a:t>
            </a:r>
          </a:p>
          <a:p>
            <a:pPr>
              <a:spcBef>
                <a:spcPts val="50"/>
              </a:spcBef>
              <a:spcAft>
                <a:spcPts val="0"/>
              </a:spcAft>
            </a:pPr>
            <a:r>
              <a:rPr sz="950">
                <a:solidFill>
                  <a:srgbClr val="0D2B52"/>
                </a:solidFill>
                <a:latin typeface="Times New Roman"/>
              </a:rPr>
              <a:t>    res.json({ status: 'ok', time: new Date().toISOString() });</a:t>
            </a:r>
          </a:p>
          <a:p>
            <a:pPr>
              <a:spcBef>
                <a:spcPts val="50"/>
              </a:spcBef>
              <a:spcAft>
                <a:spcPts val="0"/>
              </a:spcAft>
            </a:pPr>
            <a:r>
              <a:rPr sz="950">
                <a:solidFill>
                  <a:srgbClr val="0D2B52"/>
                </a:solidFill>
                <a:latin typeface="Times New Roman"/>
              </a:rPr>
              <a:t>});</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app.listen(PORT, '0.0.0.0', () =&gt; {</a:t>
            </a:r>
          </a:p>
          <a:p>
            <a:pPr>
              <a:spcBef>
                <a:spcPts val="50"/>
              </a:spcBef>
              <a:spcAft>
                <a:spcPts val="0"/>
              </a:spcAft>
            </a:pPr>
            <a:r>
              <a:rPr sz="950">
                <a:solidFill>
                  <a:srgbClr val="0D2B52"/>
                </a:solidFill>
                <a:latin typeface="Times New Roman"/>
              </a:rPr>
              <a:t>    console.log(`Server running on http://0.0.0.0:${PORT}`);</a:t>
            </a:r>
          </a:p>
          <a:p>
            <a:pPr>
              <a:spcBef>
                <a:spcPts val="50"/>
              </a:spcBef>
              <a:spcAft>
                <a:spcPts val="0"/>
              </a:spcAft>
            </a:pPr>
            <a:r>
              <a:rPr sz="950">
                <a:solidFill>
                  <a:srgbClr val="0D2B52"/>
                </a:solidFill>
                <a:latin typeface="Times New Roman"/>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20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28600"/>
          </a:xfrm>
          <a:prstGeom prst="rect">
            <a:avLst/>
          </a:prstGeom>
          <a:noFill/>
        </p:spPr>
        <p:txBody>
          <a:bodyPr wrap="square">
            <a:spAutoFit/>
          </a:bodyPr>
          <a:lstStyle/>
          <a:p>
            <a:pPr>
              <a:spcBef>
                <a:spcPts val="100"/>
              </a:spcBef>
            </a:pPr>
            <a:r>
              <a:rPr sz="1200" b="1">
                <a:solidFill>
                  <a:srgbClr val="1F477B"/>
                </a:solidFill>
                <a:latin typeface="Times New Roman"/>
              </a:rPr>
              <a:t>EXPRESS AUTHENTICATION API ENDPOINTS (backend/index.js - Part 2)</a:t>
            </a:r>
          </a:p>
        </p:txBody>
      </p:sp>
      <p:sp>
        <p:nvSpPr>
          <p:cNvPr id="9" name="TextBox 8"/>
          <p:cNvSpPr txBox="1"/>
          <p:nvPr/>
        </p:nvSpPr>
        <p:spPr>
          <a:xfrm>
            <a:off x="1032357" y="123444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1. User Registration Route (DML INSERT)</a:t>
            </a:r>
          </a:p>
          <a:p>
            <a:pPr>
              <a:spcBef>
                <a:spcPts val="50"/>
              </a:spcBef>
              <a:spcAft>
                <a:spcPts val="0"/>
              </a:spcAft>
            </a:pPr>
            <a:r>
              <a:rPr sz="950">
                <a:solidFill>
                  <a:srgbClr val="0D2B52"/>
                </a:solidFill>
                <a:latin typeface="Times New Roman"/>
              </a:rPr>
              <a:t>app.post('/api/register', (req, res) =&gt; {</a:t>
            </a:r>
          </a:p>
          <a:p>
            <a:pPr>
              <a:spcBef>
                <a:spcPts val="50"/>
              </a:spcBef>
              <a:spcAft>
                <a:spcPts val="0"/>
              </a:spcAft>
            </a:pPr>
            <a:r>
              <a:rPr sz="950">
                <a:solidFill>
                  <a:srgbClr val="0D2B52"/>
                </a:solidFill>
                <a:latin typeface="Times New Roman"/>
              </a:rPr>
              <a:t>    const { name, email, password } = req.body;</a:t>
            </a:r>
          </a:p>
          <a:p>
            <a:pPr>
              <a:spcBef>
                <a:spcPts val="50"/>
              </a:spcBef>
              <a:spcAft>
                <a:spcPts val="0"/>
              </a:spcAft>
            </a:pPr>
            <a:r>
              <a:rPr sz="950">
                <a:solidFill>
                  <a:srgbClr val="0D2B52"/>
                </a:solidFill>
                <a:latin typeface="Times New Roman"/>
              </a:rPr>
              <a:t>    db.run(</a:t>
            </a:r>
          </a:p>
          <a:p>
            <a:pPr>
              <a:spcBef>
                <a:spcPts val="50"/>
              </a:spcBef>
              <a:spcAft>
                <a:spcPts val="0"/>
              </a:spcAft>
            </a:pPr>
            <a:r>
              <a:rPr sz="950">
                <a:solidFill>
                  <a:srgbClr val="0D2B52"/>
                </a:solidFill>
                <a:latin typeface="Times New Roman"/>
              </a:rPr>
              <a:t>        'INSERT INTO users (name, email, password) VALUES (?, ?, ?)',</a:t>
            </a:r>
          </a:p>
          <a:p>
            <a:pPr>
              <a:spcBef>
                <a:spcPts val="50"/>
              </a:spcBef>
              <a:spcAft>
                <a:spcPts val="0"/>
              </a:spcAft>
            </a:pPr>
            <a:r>
              <a:rPr sz="950">
                <a:solidFill>
                  <a:srgbClr val="0D2B52"/>
                </a:solidFill>
                <a:latin typeface="Times New Roman"/>
              </a:rPr>
              <a:t>        [name, email, password],</a:t>
            </a:r>
          </a:p>
          <a:p>
            <a:pPr>
              <a:spcBef>
                <a:spcPts val="50"/>
              </a:spcBef>
              <a:spcAft>
                <a:spcPts val="0"/>
              </a:spcAft>
            </a:pPr>
            <a:r>
              <a:rPr sz="950">
                <a:solidFill>
                  <a:srgbClr val="0D2B52"/>
                </a:solidFill>
                <a:latin typeface="Times New Roman"/>
              </a:rPr>
              <a:t>        function(err) {</a:t>
            </a:r>
          </a:p>
          <a:p>
            <a:pPr>
              <a:spcBef>
                <a:spcPts val="50"/>
              </a:spcBef>
              <a:spcAft>
                <a:spcPts val="0"/>
              </a:spcAft>
            </a:pPr>
            <a:r>
              <a:rPr sz="950">
                <a:solidFill>
                  <a:srgbClr val="0D2B52"/>
                </a:solidFill>
                <a:latin typeface="Times New Roman"/>
              </a:rPr>
              <a:t>            if (err) return res.status(500).json({ error: err.message });</a:t>
            </a:r>
          </a:p>
          <a:p>
            <a:pPr>
              <a:spcBef>
                <a:spcPts val="50"/>
              </a:spcBef>
              <a:spcAft>
                <a:spcPts val="0"/>
              </a:spcAft>
            </a:pPr>
            <a:r>
              <a:rPr sz="950">
                <a:solidFill>
                  <a:srgbClr val="0D2B52"/>
                </a:solidFill>
                <a:latin typeface="Times New Roman"/>
              </a:rPr>
              <a:t>            res.json({ id: this.lastID, message: 'User registered successfully' });</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2. User Login Route (DML SELECT)</a:t>
            </a:r>
          </a:p>
          <a:p>
            <a:pPr>
              <a:spcBef>
                <a:spcPts val="50"/>
              </a:spcBef>
              <a:spcAft>
                <a:spcPts val="0"/>
              </a:spcAft>
            </a:pPr>
            <a:r>
              <a:rPr sz="950">
                <a:solidFill>
                  <a:srgbClr val="0D2B52"/>
                </a:solidFill>
                <a:latin typeface="Times New Roman"/>
              </a:rPr>
              <a:t>app.post('/api/login', (req, res) =&gt; {</a:t>
            </a:r>
          </a:p>
          <a:p>
            <a:pPr>
              <a:spcBef>
                <a:spcPts val="50"/>
              </a:spcBef>
              <a:spcAft>
                <a:spcPts val="0"/>
              </a:spcAft>
            </a:pPr>
            <a:r>
              <a:rPr sz="950">
                <a:solidFill>
                  <a:srgbClr val="0D2B52"/>
                </a:solidFill>
                <a:latin typeface="Times New Roman"/>
              </a:rPr>
              <a:t>    const { email, password } = req.body;</a:t>
            </a:r>
          </a:p>
          <a:p>
            <a:pPr>
              <a:spcBef>
                <a:spcPts val="50"/>
              </a:spcBef>
              <a:spcAft>
                <a:spcPts val="0"/>
              </a:spcAft>
            </a:pPr>
            <a:r>
              <a:rPr sz="950">
                <a:solidFill>
                  <a:srgbClr val="0D2B52"/>
                </a:solidFill>
                <a:latin typeface="Times New Roman"/>
              </a:rPr>
              <a:t>    db.get(</a:t>
            </a:r>
          </a:p>
          <a:p>
            <a:pPr>
              <a:spcBef>
                <a:spcPts val="50"/>
              </a:spcBef>
              <a:spcAft>
                <a:spcPts val="0"/>
              </a:spcAft>
            </a:pPr>
            <a:r>
              <a:rPr sz="950">
                <a:solidFill>
                  <a:srgbClr val="0D2B52"/>
                </a:solidFill>
                <a:latin typeface="Times New Roman"/>
              </a:rPr>
              <a:t>        'SELECT id, name, email, role FROM users WHERE email = ? AND password = ?',</a:t>
            </a:r>
          </a:p>
          <a:p>
            <a:pPr>
              <a:spcBef>
                <a:spcPts val="50"/>
              </a:spcBef>
              <a:spcAft>
                <a:spcPts val="0"/>
              </a:spcAft>
            </a:pPr>
            <a:r>
              <a:rPr sz="950">
                <a:solidFill>
                  <a:srgbClr val="0D2B52"/>
                </a:solidFill>
                <a:latin typeface="Times New Roman"/>
              </a:rPr>
              <a:t>        [email, password],</a:t>
            </a:r>
          </a:p>
          <a:p>
            <a:pPr>
              <a:spcBef>
                <a:spcPts val="50"/>
              </a:spcBef>
              <a:spcAft>
                <a:spcPts val="0"/>
              </a:spcAft>
            </a:pPr>
            <a:r>
              <a:rPr sz="950">
                <a:solidFill>
                  <a:srgbClr val="0D2B52"/>
                </a:solidFill>
                <a:latin typeface="Times New Roman"/>
              </a:rPr>
              <a:t>        (err, row) =&gt; {</a:t>
            </a:r>
          </a:p>
          <a:p>
            <a:pPr>
              <a:spcBef>
                <a:spcPts val="50"/>
              </a:spcBef>
              <a:spcAft>
                <a:spcPts val="0"/>
              </a:spcAft>
            </a:pPr>
            <a:r>
              <a:rPr sz="950">
                <a:solidFill>
                  <a:srgbClr val="0D2B52"/>
                </a:solidFill>
                <a:latin typeface="Times New Roman"/>
              </a:rPr>
              <a:t>            if (err) return res.status(500).json({ error: err.message });</a:t>
            </a:r>
          </a:p>
          <a:p>
            <a:pPr>
              <a:spcBef>
                <a:spcPts val="50"/>
              </a:spcBef>
              <a:spcAft>
                <a:spcPts val="0"/>
              </a:spcAft>
            </a:pPr>
            <a:r>
              <a:rPr sz="950">
                <a:solidFill>
                  <a:srgbClr val="0D2B52"/>
                </a:solidFill>
                <a:latin typeface="Times New Roman"/>
              </a:rPr>
              <a:t>            if (!row) return res.status(401).json({ error: 'Invalid credentials' });</a:t>
            </a:r>
          </a:p>
          <a:p>
            <a:pPr>
              <a:spcBef>
                <a:spcPts val="50"/>
              </a:spcBef>
              <a:spcAft>
                <a:spcPts val="0"/>
              </a:spcAft>
            </a:pPr>
            <a:r>
              <a:rPr sz="950">
                <a:solidFill>
                  <a:srgbClr val="0D2B52"/>
                </a:solidFill>
                <a:latin typeface="Times New Roman"/>
              </a:rPr>
              <a:t>            res.json(row);</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21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914400"/>
            <a:ext cx="5747918" cy="228600"/>
          </a:xfrm>
          <a:prstGeom prst="rect">
            <a:avLst/>
          </a:prstGeom>
          <a:noFill/>
        </p:spPr>
        <p:txBody>
          <a:bodyPr wrap="square">
            <a:spAutoFit/>
          </a:bodyPr>
          <a:lstStyle/>
          <a:p>
            <a:pPr>
              <a:spcBef>
                <a:spcPts val="100"/>
              </a:spcBef>
            </a:pPr>
            <a:r>
              <a:rPr sz="1200" b="1">
                <a:solidFill>
                  <a:srgbClr val="1F477B"/>
                </a:solidFill>
                <a:latin typeface="Times New Roman"/>
              </a:rPr>
              <a:t>EXPRESS BOOKING AND TRAIN API ENDPOINTS (backend/index.js - Part 3)</a:t>
            </a:r>
          </a:p>
        </p:txBody>
      </p:sp>
      <p:sp>
        <p:nvSpPr>
          <p:cNvPr id="9" name="TextBox 8"/>
          <p:cNvSpPr txBox="1"/>
          <p:nvPr/>
        </p:nvSpPr>
        <p:spPr>
          <a:xfrm>
            <a:off x="1032357" y="1234440"/>
            <a:ext cx="5747918" cy="7406640"/>
          </a:xfrm>
          <a:prstGeom prst="rect">
            <a:avLst/>
          </a:prstGeom>
          <a:noFill/>
        </p:spPr>
        <p:txBody>
          <a:bodyPr wrap="square">
            <a:spAutoFit/>
          </a:bodyPr>
          <a:lstStyle/>
          <a:p>
            <a:pPr>
              <a:spcBef>
                <a:spcPts val="50"/>
              </a:spcBef>
              <a:spcAft>
                <a:spcPts val="0"/>
              </a:spcAft>
            </a:pPr>
            <a:r>
              <a:rPr sz="950">
                <a:solidFill>
                  <a:srgbClr val="0D2B52"/>
                </a:solidFill>
                <a:latin typeface="Times New Roman"/>
              </a:rPr>
              <a:t>// 1. Create Train Booking</a:t>
            </a:r>
          </a:p>
          <a:p>
            <a:pPr>
              <a:spcBef>
                <a:spcPts val="50"/>
              </a:spcBef>
              <a:spcAft>
                <a:spcPts val="0"/>
              </a:spcAft>
            </a:pPr>
            <a:r>
              <a:rPr sz="950">
                <a:solidFill>
                  <a:srgbClr val="0D2B52"/>
                </a:solidFill>
                <a:latin typeface="Times New Roman"/>
              </a:rPr>
              <a:t>app.post('/api/bookings', (req, res) =&gt; {</a:t>
            </a:r>
          </a:p>
          <a:p>
            <a:pPr>
              <a:spcBef>
                <a:spcPts val="50"/>
              </a:spcBef>
              <a:spcAft>
                <a:spcPts val="0"/>
              </a:spcAft>
            </a:pPr>
            <a:r>
              <a:rPr sz="950">
                <a:solidFill>
                  <a:srgbClr val="0D2B52"/>
                </a:solidFill>
                <a:latin typeface="Times New Roman"/>
              </a:rPr>
              <a:t>    const { user_id, train_id, seat_number, travel_date } = req.body;</a:t>
            </a:r>
          </a:p>
          <a:p>
            <a:pPr>
              <a:spcBef>
                <a:spcPts val="50"/>
              </a:spcBef>
              <a:spcAft>
                <a:spcPts val="0"/>
              </a:spcAft>
            </a:pPr>
            <a:r>
              <a:rPr sz="950">
                <a:solidFill>
                  <a:srgbClr val="0D2B52"/>
                </a:solidFill>
                <a:latin typeface="Times New Roman"/>
              </a:rPr>
              <a:t>    if (!user_id || !train_id || !seat_number || !travel_date) {</a:t>
            </a:r>
          </a:p>
          <a:p>
            <a:pPr>
              <a:spcBef>
                <a:spcPts val="50"/>
              </a:spcBef>
              <a:spcAft>
                <a:spcPts val="0"/>
              </a:spcAft>
            </a:pPr>
            <a:r>
              <a:rPr sz="950">
                <a:solidFill>
                  <a:srgbClr val="0D2B52"/>
                </a:solidFill>
                <a:latin typeface="Times New Roman"/>
              </a:rPr>
              <a:t>        return res.status(400).json({ error: 'Missing required fields' });</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const query = 'INSERT INTO bookings (user_id, train_id, seat_number, travel_date) VALUES (?, ?, ?, ?)';</a:t>
            </a:r>
          </a:p>
          <a:p>
            <a:pPr>
              <a:spcBef>
                <a:spcPts val="50"/>
              </a:spcBef>
              <a:spcAft>
                <a:spcPts val="0"/>
              </a:spcAft>
            </a:pPr>
            <a:r>
              <a:rPr sz="950">
                <a:solidFill>
                  <a:srgbClr val="0D2B52"/>
                </a:solidFill>
                <a:latin typeface="Times New Roman"/>
              </a:rPr>
              <a:t>    db.run(query, [user_id, train_id, seat_number, travel_date], function(err) {</a:t>
            </a:r>
          </a:p>
          <a:p>
            <a:pPr>
              <a:spcBef>
                <a:spcPts val="50"/>
              </a:spcBef>
              <a:spcAft>
                <a:spcPts val="0"/>
              </a:spcAft>
            </a:pPr>
            <a:r>
              <a:rPr sz="950">
                <a:solidFill>
                  <a:srgbClr val="0D2B52"/>
                </a:solidFill>
                <a:latin typeface="Times New Roman"/>
              </a:rPr>
              <a:t>        if (err) return res.status(500).json({ error: err.message });</a:t>
            </a:r>
          </a:p>
          <a:p>
            <a:pPr>
              <a:spcBef>
                <a:spcPts val="50"/>
              </a:spcBef>
              <a:spcAft>
                <a:spcPts val="0"/>
              </a:spcAft>
            </a:pPr>
            <a:r>
              <a:rPr sz="950">
                <a:solidFill>
                  <a:srgbClr val="0D2B52"/>
                </a:solidFill>
                <a:latin typeface="Times New Roman"/>
              </a:rPr>
              <a:t>        res.json({ id: this.lastID, message: 'Booking successful' });</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 2. Get Dynamic User Bookings with relational Join</a:t>
            </a:r>
          </a:p>
          <a:p>
            <a:pPr>
              <a:spcBef>
                <a:spcPts val="50"/>
              </a:spcBef>
              <a:spcAft>
                <a:spcPts val="0"/>
              </a:spcAft>
            </a:pPr>
            <a:r>
              <a:rPr sz="950">
                <a:solidFill>
                  <a:srgbClr val="0D2B52"/>
                </a:solidFill>
                <a:latin typeface="Times New Roman"/>
              </a:rPr>
              <a:t>app.get('/api/bookings/user/:userId', (req, res) =&gt; {</a:t>
            </a:r>
          </a:p>
          <a:p>
            <a:pPr>
              <a:spcBef>
                <a:spcPts val="50"/>
              </a:spcBef>
              <a:spcAft>
                <a:spcPts val="0"/>
              </a:spcAft>
            </a:pPr>
            <a:r>
              <a:rPr sz="950">
                <a:solidFill>
                  <a:srgbClr val="0D2B52"/>
                </a:solidFill>
                <a:latin typeface="Times New Roman"/>
              </a:rPr>
              <a:t>    const query = `</a:t>
            </a:r>
          </a:p>
          <a:p>
            <a:pPr>
              <a:spcBef>
                <a:spcPts val="50"/>
              </a:spcBef>
              <a:spcAft>
                <a:spcPts val="0"/>
              </a:spcAft>
            </a:pPr>
            <a:r>
              <a:rPr sz="950">
                <a:solidFill>
                  <a:srgbClr val="0D2B52"/>
                </a:solidFill>
                <a:latin typeface="Times New Roman"/>
              </a:rPr>
              <a:t>        SELECT b.*, t.name as train_name, t.source, t.destination, t.departure_time, t.price_base </a:t>
            </a:r>
          </a:p>
          <a:p>
            <a:pPr>
              <a:spcBef>
                <a:spcPts val="50"/>
              </a:spcBef>
              <a:spcAft>
                <a:spcPts val="0"/>
              </a:spcAft>
            </a:pPr>
            <a:r>
              <a:rPr sz="950">
                <a:solidFill>
                  <a:srgbClr val="0D2B52"/>
                </a:solidFill>
                <a:latin typeface="Times New Roman"/>
              </a:rPr>
              <a:t>        FROM bookings b </a:t>
            </a:r>
          </a:p>
          <a:p>
            <a:pPr>
              <a:spcBef>
                <a:spcPts val="50"/>
              </a:spcBef>
              <a:spcAft>
                <a:spcPts val="0"/>
              </a:spcAft>
            </a:pPr>
            <a:r>
              <a:rPr sz="950">
                <a:solidFill>
                  <a:srgbClr val="0D2B52"/>
                </a:solidFill>
                <a:latin typeface="Times New Roman"/>
              </a:rPr>
              <a:t>        JOIN trains t ON b.train_id = t.id </a:t>
            </a:r>
          </a:p>
          <a:p>
            <a:pPr>
              <a:spcBef>
                <a:spcPts val="50"/>
              </a:spcBef>
              <a:spcAft>
                <a:spcPts val="0"/>
              </a:spcAft>
            </a:pPr>
            <a:r>
              <a:rPr sz="950">
                <a:solidFill>
                  <a:srgbClr val="0D2B52"/>
                </a:solidFill>
                <a:latin typeface="Times New Roman"/>
              </a:rPr>
              <a:t>        WHERE b.user_id = ?</a:t>
            </a:r>
          </a:p>
          <a:p>
            <a:pPr>
              <a:spcBef>
                <a:spcPts val="50"/>
              </a:spcBef>
              <a:spcAft>
                <a:spcPts val="0"/>
              </a:spcAft>
            </a:pPr>
            <a:r>
              <a:rPr sz="950">
                <a:solidFill>
                  <a:srgbClr val="0D2B52"/>
                </a:solidFill>
                <a:latin typeface="Times New Roman"/>
              </a:rPr>
              <a:t>        ORDER BY b.travel_date ASC`;</a:t>
            </a:r>
          </a:p>
          <a:p>
            <a:pPr>
              <a:spcBef>
                <a:spcPts val="50"/>
              </a:spcBef>
              <a:spcAft>
                <a:spcPts val="0"/>
              </a:spcAft>
            </a:pPr>
            <a:r>
              <a:rPr sz="950">
                <a:solidFill>
                  <a:srgbClr val="0D2B52"/>
                </a:solidFill>
                <a:latin typeface="Times New Roman"/>
              </a:rPr>
              <a:t>    db.all(query, [req.params.userId], (err, rows) =&gt; {</a:t>
            </a:r>
          </a:p>
          <a:p>
            <a:pPr>
              <a:spcBef>
                <a:spcPts val="50"/>
              </a:spcBef>
              <a:spcAft>
                <a:spcPts val="0"/>
              </a:spcAft>
            </a:pPr>
            <a:r>
              <a:rPr sz="950">
                <a:solidFill>
                  <a:srgbClr val="0D2B52"/>
                </a:solidFill>
                <a:latin typeface="Times New Roman"/>
              </a:rPr>
              <a:t>        if (err) return res.status(500).json({ error: err.message });</a:t>
            </a:r>
          </a:p>
          <a:p>
            <a:pPr>
              <a:spcBef>
                <a:spcPts val="50"/>
              </a:spcBef>
              <a:spcAft>
                <a:spcPts val="0"/>
              </a:spcAft>
            </a:pPr>
            <a:r>
              <a:rPr sz="950">
                <a:solidFill>
                  <a:srgbClr val="0D2B52"/>
                </a:solidFill>
                <a:latin typeface="Times New Roman"/>
              </a:rPr>
              <a:t>        res.json(rows);</a:t>
            </a:r>
          </a:p>
          <a:p>
            <a:pPr>
              <a:spcBef>
                <a:spcPts val="50"/>
              </a:spcBef>
              <a:spcAft>
                <a:spcPts val="0"/>
              </a:spcAft>
            </a:pPr>
            <a:r>
              <a:rPr sz="950">
                <a:solidFill>
                  <a:srgbClr val="0D2B52"/>
                </a:solidFill>
                <a:latin typeface="Times New Roman"/>
              </a:rPr>
              <a:t>    });</a:t>
            </a:r>
          </a:p>
          <a:p>
            <a:pPr>
              <a:spcBef>
                <a:spcPts val="50"/>
              </a:spcBef>
              <a:spcAft>
                <a:spcPts val="0"/>
              </a:spcAft>
            </a:pPr>
            <a:r>
              <a:rPr sz="950">
                <a:solidFill>
                  <a:srgbClr val="0D2B52"/>
                </a:solidFill>
                <a:latin typeface="Times New Roman"/>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22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868680"/>
            <a:ext cx="5747918" cy="274320"/>
          </a:xfrm>
          <a:prstGeom prst="rect">
            <a:avLst/>
          </a:prstGeom>
          <a:noFill/>
        </p:spPr>
        <p:txBody>
          <a:bodyPr wrap="square">
            <a:spAutoFit/>
          </a:bodyPr>
          <a:lstStyle/>
          <a:p>
            <a:pPr>
              <a:spcBef>
                <a:spcPts val="100"/>
              </a:spcBef>
            </a:pPr>
            <a:r>
              <a:rPr sz="1400" b="1">
                <a:latin typeface="Times New Roman"/>
              </a:rPr>
              <a:t>CHAPTER 4 - RESULT</a:t>
            </a:r>
          </a:p>
        </p:txBody>
      </p:sp>
      <p:sp>
        <p:nvSpPr>
          <p:cNvPr id="9" name="TextBox 8"/>
          <p:cNvSpPr txBox="1"/>
          <p:nvPr/>
        </p:nvSpPr>
        <p:spPr>
          <a:xfrm>
            <a:off x="1032357" y="1188720"/>
            <a:ext cx="5747918" cy="228600"/>
          </a:xfrm>
          <a:prstGeom prst="rect">
            <a:avLst/>
          </a:prstGeom>
          <a:noFill/>
        </p:spPr>
        <p:txBody>
          <a:bodyPr wrap="square">
            <a:spAutoFit/>
          </a:bodyPr>
          <a:lstStyle/>
          <a:p>
            <a:pPr>
              <a:spcBef>
                <a:spcPts val="100"/>
              </a:spcBef>
            </a:pPr>
            <a:r>
              <a:rPr sz="1200" b="1">
                <a:solidFill>
                  <a:srgbClr val="1F477B"/>
                </a:solidFill>
                <a:latin typeface="Times New Roman"/>
              </a:rPr>
              <a:t>4.1 SNAPSHOTS</a:t>
            </a:r>
          </a:p>
        </p:txBody>
      </p:sp>
      <p:pic>
        <p:nvPicPr>
          <p:cNvPr id="10" name="Picture 9" descr="Screenshot 2026-05-25 213724.png"/>
          <p:cNvPicPr>
            <a:picLocks noChangeAspect="1"/>
          </p:cNvPicPr>
          <p:nvPr/>
        </p:nvPicPr>
        <p:blipFill>
          <a:blip r:embed="rId2"/>
          <a:stretch>
            <a:fillRect/>
          </a:stretch>
        </p:blipFill>
        <p:spPr>
          <a:xfrm>
            <a:off x="1188720" y="1463040"/>
            <a:ext cx="5029200" cy="3108960"/>
          </a:xfrm>
          <a:prstGeom prst="rect">
            <a:avLst/>
          </a:prstGeom>
        </p:spPr>
      </p:pic>
      <p:sp>
        <p:nvSpPr>
          <p:cNvPr id="11" name="TextBox 10"/>
          <p:cNvSpPr txBox="1"/>
          <p:nvPr/>
        </p:nvSpPr>
        <p:spPr>
          <a:xfrm>
            <a:off x="1188720" y="4572000"/>
            <a:ext cx="5029200" cy="201168"/>
          </a:xfrm>
          <a:prstGeom prst="rect">
            <a:avLst/>
          </a:prstGeom>
          <a:noFill/>
        </p:spPr>
        <p:txBody>
          <a:bodyPr wrap="square">
            <a:spAutoFit/>
          </a:bodyPr>
          <a:lstStyle/>
          <a:p>
            <a:pPr algn="ctr"/>
            <a:r>
              <a:rPr sz="1100" b="1">
                <a:latin typeface="Times New Roman"/>
              </a:rPr>
              <a:t>Fig.3.1: Home Page – Train Search and Routes</a:t>
            </a:r>
          </a:p>
        </p:txBody>
      </p:sp>
      <p:pic>
        <p:nvPicPr>
          <p:cNvPr id="12" name="Picture 11" descr="Screenshot 2026-05-25 213712.png"/>
          <p:cNvPicPr>
            <a:picLocks noChangeAspect="1"/>
          </p:cNvPicPr>
          <p:nvPr/>
        </p:nvPicPr>
        <p:blipFill>
          <a:blip r:embed="rId3"/>
          <a:stretch>
            <a:fillRect/>
          </a:stretch>
        </p:blipFill>
        <p:spPr>
          <a:xfrm>
            <a:off x="1188720" y="4937760"/>
            <a:ext cx="5029200" cy="3108960"/>
          </a:xfrm>
          <a:prstGeom prst="rect">
            <a:avLst/>
          </a:prstGeom>
        </p:spPr>
      </p:pic>
      <p:sp>
        <p:nvSpPr>
          <p:cNvPr id="13" name="TextBox 12"/>
          <p:cNvSpPr txBox="1"/>
          <p:nvPr/>
        </p:nvSpPr>
        <p:spPr>
          <a:xfrm>
            <a:off x="1188720" y="8046720"/>
            <a:ext cx="5029200" cy="201168"/>
          </a:xfrm>
          <a:prstGeom prst="rect">
            <a:avLst/>
          </a:prstGeom>
          <a:noFill/>
        </p:spPr>
        <p:txBody>
          <a:bodyPr wrap="square">
            <a:spAutoFit/>
          </a:bodyPr>
          <a:lstStyle/>
          <a:p>
            <a:pPr algn="ctr"/>
            <a:r>
              <a:rPr sz="1100" b="1">
                <a:latin typeface="Times New Roman"/>
              </a:rPr>
              <a:t>Fig.3.2: User Dashboard and Quick Profile Details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23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pic>
        <p:nvPicPr>
          <p:cNvPr id="8" name="Picture 7" descr="Screenshot 2026-05-25 213735.png"/>
          <p:cNvPicPr>
            <a:picLocks noChangeAspect="1"/>
          </p:cNvPicPr>
          <p:nvPr/>
        </p:nvPicPr>
        <p:blipFill>
          <a:blip r:embed="rId2"/>
          <a:stretch>
            <a:fillRect/>
          </a:stretch>
        </p:blipFill>
        <p:spPr>
          <a:xfrm>
            <a:off x="1188720" y="777240"/>
            <a:ext cx="5029200" cy="3108960"/>
          </a:xfrm>
          <a:prstGeom prst="rect">
            <a:avLst/>
          </a:prstGeom>
        </p:spPr>
      </p:pic>
      <p:sp>
        <p:nvSpPr>
          <p:cNvPr id="9" name="TextBox 8"/>
          <p:cNvSpPr txBox="1"/>
          <p:nvPr/>
        </p:nvSpPr>
        <p:spPr>
          <a:xfrm>
            <a:off x="1188720" y="3886200"/>
            <a:ext cx="5029200" cy="201168"/>
          </a:xfrm>
          <a:prstGeom prst="rect">
            <a:avLst/>
          </a:prstGeom>
          <a:noFill/>
        </p:spPr>
        <p:txBody>
          <a:bodyPr wrap="square">
            <a:spAutoFit/>
          </a:bodyPr>
          <a:lstStyle/>
          <a:p>
            <a:pPr algn="ctr"/>
            <a:r>
              <a:rPr sz="1100" b="1">
                <a:latin typeface="Times New Roman"/>
              </a:rPr>
              <a:t>Fig.3.3: Home Page Full View with Hero Section</a:t>
            </a:r>
          </a:p>
        </p:txBody>
      </p:sp>
      <p:pic>
        <p:nvPicPr>
          <p:cNvPr id="10" name="Picture 9" descr="Screenshot 2026-05-25 213753.png"/>
          <p:cNvPicPr>
            <a:picLocks noChangeAspect="1"/>
          </p:cNvPicPr>
          <p:nvPr/>
        </p:nvPicPr>
        <p:blipFill>
          <a:blip r:embed="rId3"/>
          <a:stretch>
            <a:fillRect/>
          </a:stretch>
        </p:blipFill>
        <p:spPr>
          <a:xfrm>
            <a:off x="1188720" y="4343400"/>
            <a:ext cx="5029200" cy="3108960"/>
          </a:xfrm>
          <a:prstGeom prst="rect">
            <a:avLst/>
          </a:prstGeom>
        </p:spPr>
      </p:pic>
      <p:sp>
        <p:nvSpPr>
          <p:cNvPr id="11" name="TextBox 10"/>
          <p:cNvSpPr txBox="1"/>
          <p:nvPr/>
        </p:nvSpPr>
        <p:spPr>
          <a:xfrm>
            <a:off x="1188720" y="7452360"/>
            <a:ext cx="5029200" cy="201168"/>
          </a:xfrm>
          <a:prstGeom prst="rect">
            <a:avLst/>
          </a:prstGeom>
          <a:noFill/>
        </p:spPr>
        <p:txBody>
          <a:bodyPr wrap="square">
            <a:spAutoFit/>
          </a:bodyPr>
          <a:lstStyle/>
          <a:p>
            <a:pPr algn="ctr"/>
            <a:r>
              <a:rPr sz="1100" b="1">
                <a:latin typeface="Times New Roman"/>
              </a:rPr>
              <a:t>Fig.3.4: Administrative Panel – Train Scheduling Control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24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pic>
        <p:nvPicPr>
          <p:cNvPr id="8" name="Picture 7" descr="Screenshot 2026-05-25 214025.png"/>
          <p:cNvPicPr>
            <a:picLocks noChangeAspect="1"/>
          </p:cNvPicPr>
          <p:nvPr/>
        </p:nvPicPr>
        <p:blipFill>
          <a:blip r:embed="rId2"/>
          <a:stretch>
            <a:fillRect/>
          </a:stretch>
        </p:blipFill>
        <p:spPr>
          <a:xfrm>
            <a:off x="1188720" y="777240"/>
            <a:ext cx="5029200" cy="3108960"/>
          </a:xfrm>
          <a:prstGeom prst="rect">
            <a:avLst/>
          </a:prstGeom>
        </p:spPr>
      </p:pic>
      <p:sp>
        <p:nvSpPr>
          <p:cNvPr id="9" name="TextBox 8"/>
          <p:cNvSpPr txBox="1"/>
          <p:nvPr/>
        </p:nvSpPr>
        <p:spPr>
          <a:xfrm>
            <a:off x="1188720" y="3886200"/>
            <a:ext cx="5029200" cy="201168"/>
          </a:xfrm>
          <a:prstGeom prst="rect">
            <a:avLst/>
          </a:prstGeom>
          <a:noFill/>
        </p:spPr>
        <p:txBody>
          <a:bodyPr wrap="square">
            <a:spAutoFit/>
          </a:bodyPr>
          <a:lstStyle/>
          <a:p>
            <a:pPr algn="ctr"/>
            <a:r>
              <a:rPr sz="1100" b="1">
                <a:latin typeface="Times New Roman"/>
              </a:rPr>
              <a:t>Fig.3.5: Interactive Visual Seat Selection Grid</a:t>
            </a:r>
          </a:p>
        </p:txBody>
      </p:sp>
      <p:pic>
        <p:nvPicPr>
          <p:cNvPr id="10" name="Picture 9" descr="Screenshot 2026-05-25 214036.png"/>
          <p:cNvPicPr>
            <a:picLocks noChangeAspect="1"/>
          </p:cNvPicPr>
          <p:nvPr/>
        </p:nvPicPr>
        <p:blipFill>
          <a:blip r:embed="rId3"/>
          <a:stretch>
            <a:fillRect/>
          </a:stretch>
        </p:blipFill>
        <p:spPr>
          <a:xfrm>
            <a:off x="1188720" y="4343400"/>
            <a:ext cx="5029200" cy="3108960"/>
          </a:xfrm>
          <a:prstGeom prst="rect">
            <a:avLst/>
          </a:prstGeom>
        </p:spPr>
      </p:pic>
      <p:sp>
        <p:nvSpPr>
          <p:cNvPr id="11" name="TextBox 10"/>
          <p:cNvSpPr txBox="1"/>
          <p:nvPr/>
        </p:nvSpPr>
        <p:spPr>
          <a:xfrm>
            <a:off x="1188720" y="7452360"/>
            <a:ext cx="5029200" cy="201168"/>
          </a:xfrm>
          <a:prstGeom prst="rect">
            <a:avLst/>
          </a:prstGeom>
          <a:noFill/>
        </p:spPr>
        <p:txBody>
          <a:bodyPr wrap="square">
            <a:spAutoFit/>
          </a:bodyPr>
          <a:lstStyle/>
          <a:p>
            <a:pPr algn="ctr"/>
            <a:r>
              <a:rPr sz="1100" b="1">
                <a:latin typeface="Times New Roman"/>
              </a:rPr>
              <a:t>Fig.3.6: User My Journeys History and Status Tracker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25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pic>
        <p:nvPicPr>
          <p:cNvPr id="8" name="Picture 7" descr="Screenshot 2026-05-25 214049.png"/>
          <p:cNvPicPr>
            <a:picLocks noChangeAspect="1"/>
          </p:cNvPicPr>
          <p:nvPr/>
        </p:nvPicPr>
        <p:blipFill>
          <a:blip r:embed="rId2"/>
          <a:stretch>
            <a:fillRect/>
          </a:stretch>
        </p:blipFill>
        <p:spPr>
          <a:xfrm>
            <a:off x="1188720" y="777240"/>
            <a:ext cx="5029200" cy="3108960"/>
          </a:xfrm>
          <a:prstGeom prst="rect">
            <a:avLst/>
          </a:prstGeom>
        </p:spPr>
      </p:pic>
      <p:sp>
        <p:nvSpPr>
          <p:cNvPr id="9" name="TextBox 8"/>
          <p:cNvSpPr txBox="1"/>
          <p:nvPr/>
        </p:nvSpPr>
        <p:spPr>
          <a:xfrm>
            <a:off x="1188720" y="3886200"/>
            <a:ext cx="5029200" cy="201168"/>
          </a:xfrm>
          <a:prstGeom prst="rect">
            <a:avLst/>
          </a:prstGeom>
          <a:noFill/>
        </p:spPr>
        <p:txBody>
          <a:bodyPr wrap="square">
            <a:spAutoFit/>
          </a:bodyPr>
          <a:lstStyle/>
          <a:p>
            <a:pPr algn="ctr"/>
            <a:r>
              <a:rPr sz="1100" b="1">
                <a:latin typeface="Times New Roman"/>
              </a:rPr>
              <a:t>Fig.3.7: EliteRail Glassmorphic About Page Section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26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657453"/>
            <a:ext cx="5253228" cy="8229600"/>
          </a:xfrm>
          <a:prstGeom prst="rect">
            <a:avLst/>
          </a:prstGeom>
          <a:noFill/>
        </p:spPr>
        <p:txBody>
          <a:bodyPr wrap="square">
            <a:spAutoFit/>
          </a:bodyPr>
          <a:lstStyle/>
          <a:p>
            <a:pPr>
              <a:spcBef>
                <a:spcPts val="800"/>
              </a:spcBef>
            </a:pPr>
            <a:r>
              <a:rPr sz="1400" b="1">
                <a:latin typeface="Times New Roman"/>
              </a:rPr>
              <a:t>CHAPTER 5</a:t>
            </a:r>
          </a:p>
          <a:p>
            <a:pPr algn="ctr">
              <a:spcBef>
                <a:spcPts val="700"/>
              </a:spcBef>
            </a:pPr>
            <a:r>
              <a:rPr sz="1400" b="1">
                <a:latin typeface="Times New Roman"/>
              </a:rPr>
              <a:t>CONCLUSION AND FUTURE ENHANCEMENT</a:t>
            </a:r>
          </a:p>
          <a:p>
            <a:pPr>
              <a:spcBef>
                <a:spcPts val="1200"/>
              </a:spcBef>
            </a:pPr>
            <a:r>
              <a:rPr sz="1400" b="1">
                <a:latin typeface="Times New Roman"/>
              </a:rPr>
              <a:t>5.1 CONCLUSION</a:t>
            </a:r>
          </a:p>
          <a:p>
            <a:pPr algn="just">
              <a:spcBef>
                <a:spcPts val="600"/>
              </a:spcBef>
            </a:pPr>
            <a:r>
              <a:rPr sz="1200">
                <a:latin typeface="Times New Roman"/>
              </a:rPr>
              <a:t>The Elite Rail Online Railway Booking System is a web-based database application that successfully demonstrates the high-performance integration of modern web technologies with relational database design principles. By designing a highly normalized SQLite schema (satisfying BCNF) and implementing strict referential foreign key constraints, we have eliminated data redundancy, preserved database integrity, and optimized overall query performance.</a:t>
            </a:r>
          </a:p>
          <a:p>
            <a:pPr>
              <a:spcBef>
                <a:spcPts val="800"/>
              </a:spcBef>
            </a:pPr>
            <a:r>
              <a:rPr sz="1200">
                <a:latin typeface="Times New Roman"/>
              </a:rPr>
              <a:t>Key DBMS and Relational concepts demonstrated in this project include:</a:t>
            </a:r>
          </a:p>
          <a:p>
            <a:pPr>
              <a:spcBef>
                <a:spcPts val="300"/>
              </a:spcBef>
            </a:pPr>
            <a:r>
              <a:rPr sz="1200">
                <a:latin typeface="Times New Roman"/>
              </a:rPr>
              <a:t>→ Entity-Relationship (ER) modeling representing real-world booking processes.</a:t>
            </a:r>
          </a:p>
          <a:p>
            <a:pPr>
              <a:spcBef>
                <a:spcPts val="300"/>
              </a:spcBef>
            </a:pPr>
            <a:r>
              <a:rPr sz="1200">
                <a:latin typeface="Times New Roman"/>
              </a:rPr>
              <a:t>→ Structured SQL Data Definition Language (DDL) with cascading triggers and checks.</a:t>
            </a:r>
          </a:p>
          <a:p>
            <a:pPr>
              <a:spcBef>
                <a:spcPts val="300"/>
              </a:spcBef>
            </a:pPr>
            <a:r>
              <a:rPr sz="1200">
                <a:latin typeface="Times New Roman"/>
              </a:rPr>
              <a:t>→ High-performance SQL Data Manipulation Language (DML) utilizing subqueries and JOINs.</a:t>
            </a:r>
          </a:p>
          <a:p>
            <a:pPr>
              <a:spcBef>
                <a:spcPts val="300"/>
              </a:spcBef>
            </a:pPr>
            <a:r>
              <a:rPr sz="1200">
                <a:latin typeface="Times New Roman"/>
              </a:rPr>
              <a:t>→ Schema Normalization rules eliminating data insertions and deletion anomalies.</a:t>
            </a:r>
          </a:p>
          <a:p>
            <a:pPr>
              <a:spcBef>
                <a:spcPts val="300"/>
              </a:spcBef>
            </a:pPr>
            <a:r>
              <a:rPr sz="1200">
                <a:latin typeface="Times New Roman"/>
              </a:rPr>
              <a:t>→ SQLite custom triggers enforcing strict booking concurrency controls.</a:t>
            </a:r>
          </a:p>
          <a:p>
            <a:pPr>
              <a:spcBef>
                <a:spcPts val="300"/>
              </a:spcBef>
            </a:pPr>
            <a:r>
              <a:rPr sz="1200">
                <a:latin typeface="Times New Roman"/>
              </a:rPr>
              <a:t>→ Pre-compiled Database Views simplifying reporting on active bookings.</a:t>
            </a:r>
          </a:p>
          <a:p>
            <a:pPr algn="just">
              <a:spcBef>
                <a:spcPts val="800"/>
              </a:spcBef>
            </a:pPr>
            <a:r>
              <a:rPr sz="1200">
                <a:latin typeface="Times New Roman"/>
              </a:rPr>
              <a:t>Ultimately, this project represents a scalable, robust, and highly functional demonstration of database-driven system development for modern railway operations.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27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875995"/>
            <a:ext cx="5255971" cy="7772400"/>
          </a:xfrm>
          <a:prstGeom prst="rect">
            <a:avLst/>
          </a:prstGeom>
          <a:noFill/>
        </p:spPr>
        <p:txBody>
          <a:bodyPr wrap="square">
            <a:spAutoFit/>
          </a:bodyPr>
          <a:lstStyle/>
          <a:p>
            <a:pPr>
              <a:spcBef>
                <a:spcPts val="100"/>
              </a:spcBef>
            </a:pPr>
            <a:r>
              <a:rPr sz="1400" b="1">
                <a:latin typeface="Times New Roman"/>
              </a:rPr>
              <a:t>5.2 FUTURE ENHANCEMENTS</a:t>
            </a:r>
          </a:p>
          <a:p>
            <a:pPr algn="just">
              <a:spcBef>
                <a:spcPts val="1000"/>
              </a:spcBef>
            </a:pPr>
            <a:r>
              <a:rPr sz="1200">
                <a:latin typeface="Times New Roman"/>
              </a:rPr>
              <a:t>While the current implementation operates robustly, several features can be added in future iterations to enhance system capabilities:</a:t>
            </a:r>
          </a:p>
          <a:p>
            <a:pPr algn="just">
              <a:spcBef>
                <a:spcPts val="800"/>
              </a:spcBef>
            </a:pPr>
            <a:r>
              <a:rPr sz="1200" b="1">
                <a:latin typeface="Times New Roman"/>
              </a:rPr>
              <a:t>Mobile Application Development:</a:t>
            </a:r>
            <a:r>
              <a:rPr sz="1200">
                <a:latin typeface="Times New Roman"/>
              </a:rPr>
              <a:t> Developing a cross-platform Android/iOS mobile application using React Native to offer on-the-go seat bookings and digital tickets.</a:t>
            </a:r>
          </a:p>
          <a:p>
            <a:pPr algn="just">
              <a:spcBef>
                <a:spcPts val="800"/>
              </a:spcBef>
            </a:pPr>
            <a:r>
              <a:rPr sz="1200" b="1">
                <a:latin typeface="Times New Roman"/>
              </a:rPr>
              <a:t>Secure Online Payment Integration:</a:t>
            </a:r>
            <a:r>
              <a:rPr sz="1200">
                <a:latin typeface="Times New Roman"/>
              </a:rPr>
              <a:t> Adding payment APIs (Razorpay, UPI, or Stripe) to enable secure online fare processing and real-time transaction tracking.</a:t>
            </a:r>
          </a:p>
          <a:p>
            <a:pPr algn="just">
              <a:spcBef>
                <a:spcPts val="800"/>
              </a:spcBef>
            </a:pPr>
            <a:r>
              <a:rPr sz="1200" b="1">
                <a:latin typeface="Times New Roman"/>
              </a:rPr>
              <a:t>Real-Time WhatsApp &amp; SMS Alerts:</a:t>
            </a:r>
            <a:r>
              <a:rPr sz="1200">
                <a:latin typeface="Times New Roman"/>
              </a:rPr>
              <a:t> Configuring immediate SMS or email notifications for booking confirmations, cancellations, and train status updates.</a:t>
            </a:r>
          </a:p>
          <a:p>
            <a:pPr algn="just">
              <a:spcBef>
                <a:spcPts val="800"/>
              </a:spcBef>
            </a:pPr>
            <a:r>
              <a:rPr sz="1200" b="1">
                <a:latin typeface="Times New Roman"/>
              </a:rPr>
              <a:t>Live Train Location Tracking:</a:t>
            </a:r>
            <a:r>
              <a:rPr sz="1200">
                <a:latin typeface="Times New Roman"/>
              </a:rPr>
              <a:t> Integrating GPS trackers to offer passengers live geographical mapping and arrival estimations.</a:t>
            </a:r>
          </a:p>
          <a:p>
            <a:pPr algn="just">
              <a:spcBef>
                <a:spcPts val="800"/>
              </a:spcBef>
            </a:pPr>
            <a:r>
              <a:rPr sz="1200" b="1">
                <a:latin typeface="Times New Roman"/>
              </a:rPr>
              <a:t>AI-Based Smart Recommendations:</a:t>
            </a:r>
            <a:r>
              <a:rPr sz="1200">
                <a:latin typeface="Times New Roman"/>
              </a:rPr>
              <a:t> Deploying machine learning models to suggest optimal train routes and itineraries based on user travel histories.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04495" y="304495"/>
            <a:ext cx="7164324" cy="9450324"/>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9284" y="435254"/>
            <a:ext cx="4114800" cy="201168"/>
          </a:xfrm>
          <a:prstGeom prst="rect">
            <a:avLst/>
          </a:prstGeom>
          <a:noFill/>
        </p:spPr>
        <p:txBody>
          <a:bodyPr wrap="square">
            <a:spAutoFit/>
          </a:bodyPr>
          <a:lstStyle/>
          <a:p>
            <a:r>
              <a:rPr sz="1100">
                <a:latin typeface="Times New Roman"/>
              </a:rPr>
              <a:t>ELITE RAIL - ONLINE RAILWAY BOOKING</a:t>
            </a:r>
          </a:p>
        </p:txBody>
      </p:sp>
      <p:sp>
        <p:nvSpPr>
          <p:cNvPr id="4" name="TextBox 3"/>
          <p:cNvSpPr txBox="1"/>
          <p:nvPr/>
        </p:nvSpPr>
        <p:spPr>
          <a:xfrm>
            <a:off x="6217005" y="435254"/>
            <a:ext cx="685800" cy="201168"/>
          </a:xfrm>
          <a:prstGeom prst="rect">
            <a:avLst/>
          </a:prstGeom>
          <a:noFill/>
        </p:spPr>
        <p:txBody>
          <a:bodyPr wrap="square">
            <a:spAutoFit/>
          </a:bodyPr>
          <a:lstStyle/>
          <a:p>
            <a:r>
              <a:rPr sz="1100">
                <a:latin typeface="Times New Roman"/>
              </a:rPr>
              <a:t>B24CSL49</a:t>
            </a:r>
          </a:p>
        </p:txBody>
      </p:sp>
      <p:sp>
        <p:nvSpPr>
          <p:cNvPr id="5" name="Rectangle 4"/>
          <p:cNvSpPr/>
          <p:nvPr/>
        </p:nvSpPr>
        <p:spPr>
          <a:xfrm>
            <a:off x="1122883" y="9258300"/>
            <a:ext cx="5754319" cy="64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3680" y="9307677"/>
            <a:ext cx="822960" cy="165506"/>
          </a:xfrm>
          <a:prstGeom prst="rect">
            <a:avLst/>
          </a:prstGeom>
          <a:noFill/>
        </p:spPr>
        <p:txBody>
          <a:bodyPr wrap="square">
            <a:spAutoFit/>
          </a:bodyPr>
          <a:lstStyle/>
          <a:p>
            <a:r>
              <a:rPr sz="900">
                <a:latin typeface="Times New Roman"/>
              </a:rPr>
              <a:t>28 | P a g e</a:t>
            </a:r>
          </a:p>
        </p:txBody>
      </p:sp>
      <p:sp>
        <p:nvSpPr>
          <p:cNvPr id="7" name="TextBox 6"/>
          <p:cNvSpPr txBox="1"/>
          <p:nvPr/>
        </p:nvSpPr>
        <p:spPr>
          <a:xfrm>
            <a:off x="5486400" y="9307677"/>
            <a:ext cx="1371600" cy="165506"/>
          </a:xfrm>
          <a:prstGeom prst="rect">
            <a:avLst/>
          </a:prstGeom>
          <a:noFill/>
        </p:spPr>
        <p:txBody>
          <a:bodyPr wrap="square">
            <a:spAutoFit/>
          </a:bodyPr>
          <a:lstStyle/>
          <a:p>
            <a:r>
              <a:rPr sz="900">
                <a:latin typeface="Times New Roman"/>
              </a:rPr>
              <a:t>D e p t .  o f  C S E</a:t>
            </a:r>
          </a:p>
        </p:txBody>
      </p:sp>
      <p:sp>
        <p:nvSpPr>
          <p:cNvPr id="8" name="TextBox 7"/>
          <p:cNvSpPr txBox="1"/>
          <p:nvPr/>
        </p:nvSpPr>
        <p:spPr>
          <a:xfrm>
            <a:off x="1032357" y="868680"/>
            <a:ext cx="3657600" cy="274320"/>
          </a:xfrm>
          <a:prstGeom prst="rect">
            <a:avLst/>
          </a:prstGeom>
          <a:noFill/>
        </p:spPr>
        <p:txBody>
          <a:bodyPr wrap="square">
            <a:spAutoFit/>
          </a:bodyPr>
          <a:lstStyle/>
          <a:p>
            <a:pPr>
              <a:spcBef>
                <a:spcPts val="100"/>
              </a:spcBef>
            </a:pPr>
            <a:r>
              <a:rPr sz="1400" b="1">
                <a:latin typeface="Times New Roman"/>
              </a:rPr>
              <a:t>REFERENCES</a:t>
            </a:r>
          </a:p>
        </p:txBody>
      </p:sp>
      <p:sp>
        <p:nvSpPr>
          <p:cNvPr id="9" name="TextBox 8"/>
          <p:cNvSpPr txBox="1"/>
          <p:nvPr/>
        </p:nvSpPr>
        <p:spPr>
          <a:xfrm>
            <a:off x="1032357" y="1234440"/>
            <a:ext cx="5253228" cy="7315200"/>
          </a:xfrm>
          <a:prstGeom prst="rect">
            <a:avLst/>
          </a:prstGeom>
          <a:noFill/>
        </p:spPr>
        <p:txBody>
          <a:bodyPr wrap="square">
            <a:spAutoFit/>
          </a:bodyPr>
          <a:lstStyle/>
          <a:p>
            <a:pPr>
              <a:spcBef>
                <a:spcPts val="800"/>
              </a:spcBef>
            </a:pPr>
            <a:r>
              <a:rPr sz="1200">
                <a:latin typeface="Times New Roman"/>
              </a:rPr>
              <a:t>1] Ramez Elmasri and Shamkant B. Navathe, "Fundamentals of Database Systems", 7th Edition, Pearson Education, 2016.</a:t>
            </a:r>
          </a:p>
          <a:p>
            <a:pPr>
              <a:spcBef>
                <a:spcPts val="800"/>
              </a:spcBef>
            </a:pPr>
            <a:r>
              <a:rPr sz="1200">
                <a:latin typeface="Times New Roman"/>
              </a:rPr>
              <a:t>2] W3Schools SQL &amp; JavaScript Tutorials – https://www.w3schools.com/sql/ and https://www.w3schools.com/js/</a:t>
            </a:r>
          </a:p>
          <a:p>
            <a:pPr>
              <a:spcBef>
                <a:spcPts val="800"/>
              </a:spcBef>
            </a:pPr>
            <a:r>
              <a:rPr sz="1200">
                <a:latin typeface="Times New Roman"/>
              </a:rPr>
              <a:t>3] SQLite 3 Official Relational Documentation – https://www.sqlite.org/docs.html</a:t>
            </a:r>
          </a:p>
          <a:p>
            <a:pPr>
              <a:spcBef>
                <a:spcPts val="800"/>
              </a:spcBef>
            </a:pPr>
            <a:r>
              <a:rPr sz="1200">
                <a:latin typeface="Times New Roman"/>
              </a:rPr>
              <a:t>4] Node.js &amp; Express.js Developer Manuals – https://nodejs.org/en/docs/ and https://expressjs.com/</a:t>
            </a:r>
          </a:p>
          <a:p>
            <a:pPr>
              <a:spcBef>
                <a:spcPts val="800"/>
              </a:spcBef>
            </a:pPr>
            <a:r>
              <a:rPr sz="1200">
                <a:latin typeface="Times New Roman"/>
              </a:rPr>
              <a:t>5] React.js Frontend Official Documentation – https://react.dev/reference/react</a:t>
            </a:r>
          </a:p>
          <a:p>
            <a:pPr>
              <a:spcBef>
                <a:spcPts val="800"/>
              </a:spcBef>
            </a:pPr>
            <a:r>
              <a:rPr sz="1200">
                <a:latin typeface="Times New Roman"/>
              </a:rPr>
              <a:t>6] better-sqlite3 Database Package Reference – https://npmjs.com/package/better-sqlite3</a:t>
            </a:r>
          </a:p>
          <a:p>
            <a:pPr>
              <a:spcBef>
                <a:spcPts val="800"/>
              </a:spcBef>
            </a:pPr>
            <a:r>
              <a:rPr sz="1200">
                <a:latin typeface="Times New Roman"/>
              </a:rPr>
              <a:t>7] MDN Web Relational Databases and SQL Guides – https://developer.mozilla.org/</a:t>
            </a:r>
          </a:p>
          <a:p>
            <a:pPr>
              <a:spcBef>
                <a:spcPts val="800"/>
              </a:spcBef>
            </a:pPr>
            <a:r>
              <a:rPr sz="1200">
                <a:latin typeface="Times New Roman"/>
              </a:rPr>
              <a:t>8] GitHub Collaborations and Version Controls – https://docs.github.com/</a:t>
            </a:r>
          </a:p>
          <a:p>
            <a:pPr>
              <a:spcBef>
                <a:spcPts val="800"/>
              </a:spcBef>
            </a:pPr>
            <a:r>
              <a:rPr sz="1200">
                <a:latin typeface="Times New Roman"/>
              </a:rPr>
              <a:t>9] Claude AI / ChatGPT Reference System Assistants – https://claude.ai and https://chatgpt.com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